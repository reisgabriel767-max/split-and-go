
<file path=[Content_Types].xml><?xml version="1.0" encoding="utf-8"?>
<Types xmlns="http://schemas.openxmlformats.org/package/2006/content-types">
  <Default Extension="xml" ContentType="application/vnd.openxmlformats-package.core-properties+xml"/>
  <Default Extension="jpeg" ContentType="image/jpe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8fb5a6e20cad41b9" /><Relationship Type="http://schemas.openxmlformats.org/officeDocument/2006/relationships/extended-properties" Target="/docProps/app.xml" Id="R954d07241a054e44" /><Relationship Type="http://schemas.openxmlformats.org/officeDocument/2006/relationships/officeDocument" Target="/ppt/presentation.xml" Id="Rc794c1243ac84b00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caf94c3422af4d71"/>
  </p:sldMasterIdLst>
  <p:notesMasterIdLst>
    <p:notesMasterId xmlns:r="http://schemas.openxmlformats.org/officeDocument/2006/relationships" r:id="Rb10c55478c334695"/>
  </p:notesMasterIdLst>
  <p:sldIdLst>
    <p:sldId xmlns:r="http://schemas.openxmlformats.org/officeDocument/2006/relationships" id="256" r:id="Rfb9df78fd8234771"/>
    <p:sldId xmlns:r="http://schemas.openxmlformats.org/officeDocument/2006/relationships" id="257" r:id="R95ed05b490e94041"/>
    <p:sldId xmlns:r="http://schemas.openxmlformats.org/officeDocument/2006/relationships" id="258" r:id="Rd03e91d5be7444fe"/>
    <p:sldId xmlns:r="http://schemas.openxmlformats.org/officeDocument/2006/relationships" id="259" r:id="R0c6dccd5d5bc43a9"/>
    <p:sldId xmlns:r="http://schemas.openxmlformats.org/officeDocument/2006/relationships" id="260" r:id="R70e8f6288487486e"/>
    <p:sldId xmlns:r="http://schemas.openxmlformats.org/officeDocument/2006/relationships" id="261" r:id="R39206b0873b64410"/>
    <p:sldId xmlns:r="http://schemas.openxmlformats.org/officeDocument/2006/relationships" id="262" r:id="R2798baf634a34d49"/>
    <p:sldId xmlns:r="http://schemas.openxmlformats.org/officeDocument/2006/relationships" id="263" r:id="Rd3adead875464f22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34bb19bc116e4038" /><Relationship Type="http://schemas.openxmlformats.org/officeDocument/2006/relationships/slideMaster" Target="/ppt/slideMasters/slideMaster1.xml" Id="Rcaf94c3422af4d71" /><Relationship Type="http://schemas.openxmlformats.org/officeDocument/2006/relationships/notesMaster" Target="/ppt/notesMasters/notesMaster1.xml" Id="Rb10c55478c334695" /><Relationship Type="http://schemas.openxmlformats.org/officeDocument/2006/relationships/presProps" Target="/ppt/presProps.xml" Id="Rba778b4f15a34649" /><Relationship Type="http://schemas.openxmlformats.org/officeDocument/2006/relationships/tableStyles" Target="/ppt/tableStyles.xml" Id="Rac60d2e3ff0d4dd3" /><Relationship Type="http://schemas.openxmlformats.org/officeDocument/2006/relationships/slide" Target="/ppt/slides/slide1.xml" Id="Rfb9df78fd8234771" /><Relationship Type="http://schemas.openxmlformats.org/officeDocument/2006/relationships/slide" Target="/ppt/slides/slide2.xml" Id="R95ed05b490e94041" /><Relationship Type="http://schemas.openxmlformats.org/officeDocument/2006/relationships/slide" Target="/ppt/slides/slide3.xml" Id="Rd03e91d5be7444fe" /><Relationship Type="http://schemas.openxmlformats.org/officeDocument/2006/relationships/slide" Target="/ppt/slides/slide4.xml" Id="R0c6dccd5d5bc43a9" /><Relationship Type="http://schemas.openxmlformats.org/officeDocument/2006/relationships/slide" Target="/ppt/slides/slide5.xml" Id="R70e8f6288487486e" /><Relationship Type="http://schemas.openxmlformats.org/officeDocument/2006/relationships/slide" Target="/ppt/slides/slide6.xml" Id="R39206b0873b64410" /><Relationship Type="http://schemas.openxmlformats.org/officeDocument/2006/relationships/slide" Target="/ppt/slides/slide7.xml" Id="R2798baf634a34d49" /><Relationship Type="http://schemas.openxmlformats.org/officeDocument/2006/relationships/slide" Target="/ppt/slides/slide8.xml" Id="Rd3adead875464f22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c11e9e223e9f43ab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8593ab3cd0014bdc" /><Relationship Type="http://schemas.openxmlformats.org/officeDocument/2006/relationships/notesMaster" Target="/ppt/notesMasters/notesMaster1.xml" Id="R7cc9bf35f34e4859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046d4e0cdb184fb5" /><Relationship Type="http://schemas.openxmlformats.org/officeDocument/2006/relationships/notesMaster" Target="/ppt/notesMasters/notesMaster1.xml" Id="Rf70267e104c64ab4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1de77fd322ee4ce1" /><Relationship Type="http://schemas.openxmlformats.org/officeDocument/2006/relationships/notesMaster" Target="/ppt/notesMasters/notesMaster1.xml" Id="R24fce86dba5c439f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c8d7f76815cf4073" /><Relationship Type="http://schemas.openxmlformats.org/officeDocument/2006/relationships/notesMaster" Target="/ppt/notesMasters/notesMaster1.xml" Id="Rc990acf9d1634015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cdce4a9594a84304" /><Relationship Type="http://schemas.openxmlformats.org/officeDocument/2006/relationships/notesMaster" Target="/ppt/notesMasters/notesMaster1.xml" Id="R039495382fb84ace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a41e2edd8cb945ba" /><Relationship Type="http://schemas.openxmlformats.org/officeDocument/2006/relationships/notesMaster" Target="/ppt/notesMasters/notesMaster1.xml" Id="Rae4c4aef86804b3d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071dbb7ae1394a99" /><Relationship Type="http://schemas.openxmlformats.org/officeDocument/2006/relationships/notesMaster" Target="/ppt/notesMasters/notesMaster1.xml" Id="Re77ee93029394733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01e7b776d6994be7" /><Relationship Type="http://schemas.openxmlformats.org/officeDocument/2006/relationships/notesMaster" Target="/ppt/notesMasters/notesMaster1.xml" Id="R10ee941471fb4034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Abertura sugerida, 30 segundos. Apresentar o problema: em viagens ou despesas de casa, cada pessoa paga valores diferentes e precisa entender quanto deve. O MVP registra as despesas e propõe um plano de acerto. Esta apresentação usa dados demonstrativos e retrata a entrega local, sem pagamentos reais.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Fontes: https://github.com/reisgabriel767-max/split-and-go, README e docs/validation.md, verificação de 14/10/2026.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Demonstração sugerida, 3 minutos. Abrir o aplicativo ao vivo. Criar grupo e participantes, registrar os três tipos de rateio, mostrar uma despesa em USD e recarregar para demonstrar persistência. Consultar o extrato e abrir Acerto. Esta captura representa quatro participantes e quatro despesas de exemplo. Os valores não representam operações reais. Fonte da imagem: captura da própria aplicação Split&amp;Go em execução local.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Fontes: https://github.com/reisgabriel767-max/split-and-go, README e docs/validation.md, verificação de 14/10/2026.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Explicação sugerida, 1 minuto. Uma única aplicação Next.js reduz o custo operacional do case. Componentes React cuidam da interface. Route Handlers recebem requisições, usam Zod e validam o pertencimento ao grupo. Regras financeiras ficam em módulos independentes da interface. SQL parametrizado, transações e chaves estrangeiras compostas protegem a persistência. Sem DATABASE_URL no desenvolvimento, PGlite usa dados locais. Em produção, o servidor exige PostgreSQL externo. Consultar src/lib/db.ts e src/app/api/groups/route.ts.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Fontes: https://github.com/reisgabriel767-max/split-and-go, README e docs/validation.md, verificação de 14/10/2026.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Explicação sugerida, 1 minuto. Valores usam centavos inteiros e percentuais usam pontos-base, onde 100% corresponde a 10000. Na divisão de R$ 10,00 por três, as partes são R$ 3,33, R$ 3,33 e R$ 3,34. O desempate por identificador é estável. O valor fixo precisa fechar exatamente o total. Na conversão, Decimal.js multiplica USD 10,01 por 5,25 e obtém 52,5525 BRL, arredondando half-up uma única vez para R$ 52,55. O rateio ocorre depois sobre 5255 centavos. Valor e taxa originais permanecem no histórico. Fontes de implementação: src/lib/money.ts e src/lib/fx.ts.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Fontes: https://github.com/reisgabriel767-max/split-and-go, README e docs/validation.md, verificação de 14/10/2026.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Explicação sugerida, 1 minuto. Saldo é o total pago menos o total devido. Saldos positivos recebem e negativos pagam. Sua soma precisa ser zero. O algoritmo exato maximiza o número de subconjuntos disjuntos com soma zero. Cada subconjunto de k pessoas exige k-1 transferências, então mais subconjuntos reduzem a quantidade total. Custo O(n * 2^n), memória O(2^n). A garantia vale para até 20 saldos não nulos. Acima disso, há um plano guloso com no máximo n-1 transferências. Quando o resultado atinge max(número de devedores, número de credores), esse limite inferior também certifica o mínimo. Nos demais casos maiores, a interface informa plano simplificado. Exemplo exibido na captura: Bruno paga R$ 47,19 a Ana e R$ 2,62 a Carla. Diego paga R$ 13,13 a Carla. Total R$ 62,94 em três transferências.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Fontes: https://github.com/reisgabriel767-max/split-and-go, README e docs/validation.md, verificação de 14/10/2026.</a:t>
            </a:r>
          </a:p>
          <a:p xmlns:a="http://schemas.openxmlformats.org/drawingml/2006/main">
            <a:r>
              <a:t>Escopo atualizado: novos grupos e inclusões de membros têm limite de 20 participantes, dentro da garantia exata. Grupos legados maiores mantêm seus dados e lançamentos, mas não podem crescer. O fallback descrito aplica-se à compatibilidade legada.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 suíte atual tem 23 testes. No PGlite, 22 passam e o teste de duas conexões fica ignorado. Na CI, todos os 23 passaram no PostgreSQL 17-alpine, incluindo o teste de escrita concorrente entre leituras e os casos de limite de membros. O limite de 20 protege inclusive duas inclusões simultâneas no último espaço. Também passaram tipos, build e o fluxo HTTP da aplicação compilada. A execução local anterior de concorrência usou PostgreSQL 18.4. O Compose local e o seu volume não foram testados. Fonte: https://github.com/reisgabriel767-max/split-and-go/actions/runs/38650831945, commit 2bba1df. Implementação: tests/api.test.ts e tests/snapshot.test.ts. Verificação de 14/10/2026.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Explicação sugerida, 45 segundos. Abrir o repositório e mostrar o histórico incremental com commits ligados às issues. Exemplo: 9650ad4 reúne câmbio e otimização do acerto e fecha #4, #5 e #6. 7bb8aa2 adiciona verificação externa de PostgreSQL e fluxo HTTP e fecha #1. Os commits de documentação registram evidências e limites. Não apresentar o quadro como público: ele continua privado por decisão do responsável. Antes da avaliação, resolver o acesso de leitura dos avaliadores respeitando essa escolha. Quadro: https://github.com/users/reisgabriel767-max/projects/1.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Fontes: https://github.com/reisgabriel767-max/split-and-go, README e docs/validation.md, verificação de 14/10/2026.</a:t>
            </a:r>
          </a:p>
          <a:p xmlns:a="http://schemas.openxmlformats.org/drawingml/2006/main">
            <a:r>
              <a:t>O case exige quadro público. O responsável reafirmou a decisão de mantê-lo privado, portanto esse requisito continua pendente. O documento pede apresentação em videochamada, sem exigir entrega de vídeo gravado.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Fechamento sugerido, 45 segundos. Ser explícito sobre o escopo: a demonstração é local, sem autenticação, edição/exclusão de lançamentos ou registro de pagamentos efetivos. O câmbio é manual. O deploy é um bônus ainda não executado. Propostas de V2, não implementadas: autenticação e convites com permissões para separar grupos, registro de quitações para acompanhar pagamentos reais e edição com auditoria para corrigir lançamentos sem perder rastreabilidade. Uma integração futura de câmbio pode reduzir entrada manual, preservando a taxa histórica. Estas propostas são hipóteses de melhoria, sem métricas de impacto medidas. Encerrar voltando ao app e abrir para perguntas.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Fontes: https://github.com/reisgabriel767-max/split-and-go, README e docs/validation.md, verificação de 14/10/2026.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8d138d2370541c6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330c95f15f84ef4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878a306c9ec4c8c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f2c5859747f4e32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f361bd7748342d8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3ad7a4a19ee4abf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29B3CF65-3D4D-4532-B014-D1EA2BA6E31C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590800"/>
            <a:ext cx="9753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1201E814-317A-4C4E-B8C5-D9E561213391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771900"/>
            <a:ext cx="8534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30B9DDDC-555E-4839-8477-BDB6986FD728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857500"/>
            <a:ext cx="975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54866D51-61F8-42C8-BEB2-121E970D5AAD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F2356274-0CDD-4766-A4DE-9EE949D7D11D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108204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82BEB110-287A-4215-B647-732CA423471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479BA530-1C72-4447-8EA4-0AC2DEED0BAC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197292E8-786D-47AD-B357-58AD3A6AE2DF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D196501A-51B1-4A29-8B25-7C6544C74B8F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E565FF6A-5536-4014-A956-D8C27EBF01F8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2a0780fcd1a54b91" /><Relationship Type="http://schemas.openxmlformats.org/officeDocument/2006/relationships/slideLayout" Target="/ppt/slideLayouts/slideLayout1.xml" Id="Rf260d15040af4e1b" /><Relationship Type="http://schemas.openxmlformats.org/officeDocument/2006/relationships/slideLayout" Target="/ppt/slideLayouts/slideLayout2.xml" Id="Rc3f8cdf8b7824135" /><Relationship Type="http://schemas.openxmlformats.org/officeDocument/2006/relationships/slideLayout" Target="/ppt/slideLayouts/slideLayout3.xml" Id="Rc1254913ef984593" /><Relationship Type="http://schemas.openxmlformats.org/officeDocument/2006/relationships/slideLayout" Target="/ppt/slideLayouts/slideLayout4.xml" Id="R394892bd9b834450" /><Relationship Type="http://schemas.openxmlformats.org/officeDocument/2006/relationships/slideLayout" Target="/ppt/slideLayouts/slideLayout5.xml" Id="Rcc1bc2618cfc4b22" /><Relationship Type="http://schemas.openxmlformats.org/officeDocument/2006/relationships/slideLayout" Target="/ppt/slideLayouts/slideLayout6.xml" Id="Rd7af163710664e3f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f260d15040af4e1b"/>
    <p:sldLayoutId xmlns:r="http://schemas.openxmlformats.org/officeDocument/2006/relationships" id="2147483650" r:id="Rc3f8cdf8b7824135"/>
    <p:sldLayoutId xmlns:r="http://schemas.openxmlformats.org/officeDocument/2006/relationships" id="2147483651" r:id="Rc1254913ef984593"/>
    <p:sldLayoutId xmlns:r="http://schemas.openxmlformats.org/officeDocument/2006/relationships" id="2147483652" r:id="R394892bd9b834450"/>
    <p:sldLayoutId xmlns:r="http://schemas.openxmlformats.org/officeDocument/2006/relationships" id="2147483653" r:id="Rcc1bc2618cfc4b22"/>
    <p:sldLayoutId xmlns:r="http://schemas.openxmlformats.org/officeDocument/2006/relationships" id="2147483654" r:id="Rd7af163710664e3f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6f7d9929de184267" /><Relationship Type="http://schemas.openxmlformats.org/officeDocument/2006/relationships/notesSlide" Target="/ppt/notesSlides/notesSlide1.xml" Id="Rddf6c57d6b954b3f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818e30d0f45d4058" /><Relationship Type="http://schemas.openxmlformats.org/officeDocument/2006/relationships/image" Target="/ppt/media/image.jpeg" Id="R79a0b11ac71a4409" /><Relationship Type="http://schemas.openxmlformats.org/officeDocument/2006/relationships/notesSlide" Target="/ppt/notesSlides/notesSlide2.xml" Id="R2c6b664ca85b492a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1991238103ec4d8b" /><Relationship Type="http://schemas.openxmlformats.org/officeDocument/2006/relationships/notesSlide" Target="/ppt/notesSlides/notesSlide3.xml" Id="R98298f1663c04c7c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7665d476c72d464a" /><Relationship Type="http://schemas.openxmlformats.org/officeDocument/2006/relationships/notesSlide" Target="/ppt/notesSlides/notesSlide4.xml" Id="Rdbf4ab3ab7da4db5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45ee10125162493f" /><Relationship Type="http://schemas.openxmlformats.org/officeDocument/2006/relationships/notesSlide" Target="/ppt/notesSlides/notesSlide5.xml" Id="R71b9b71e40df4005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df36102729424085" /><Relationship Type="http://schemas.openxmlformats.org/officeDocument/2006/relationships/notesSlide" Target="/ppt/notesSlides/notesSlide6.xml" Id="Rb1533f0108934c5f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9ce9a3b4a34c4044" /><Relationship Type="http://schemas.openxmlformats.org/officeDocument/2006/relationships/notesSlide" Target="/ppt/notesSlides/notesSlide7.xml" Id="R007881cce4d5450f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6bce73490c2e4cd1" /><Relationship Type="http://schemas.openxmlformats.org/officeDocument/2006/relationships/notesSlide" Target="/ppt/notesSlides/notesSlide8.xml" Id="R8a719c74c41a40de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172C2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E881EE4-1866-4E20-AE11-004EF7D7F9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95300"/>
            <a:ext cx="10858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3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33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Split&amp;Go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CF60BD1-8DD9-4215-88D2-1E9844CA00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238875"/>
            <a:ext cx="571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0">
                <a:solidFill>
                  <a:srgbClr val="B4D8CC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350" b="0">
                <a:solidFill>
                  <a:srgbClr val="B4D8CC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B4D8CC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3250C7E-562E-4959-B595-2F5E9B4FE2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190750"/>
            <a:ext cx="1009650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420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420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4200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Despesas compartilhadas</a:t>
            </a:r>
          </a:p>
          <a:p xmlns:a="http://schemas.openxmlformats.org/drawingml/2006/main">
            <a:pPr>
              <a:defRPr sz="420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4200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e plano de acerto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73A8CAC-9DCF-4C00-B7B4-ECB9EB6BC1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991100"/>
            <a:ext cx="8572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00" b="0">
                <a:solidFill>
                  <a:srgbClr val="B4D8CC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100" b="0">
                <a:solidFill>
                  <a:srgbClr val="B4D8CC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B4D8CC"/>
                </a:solidFill>
                <a:latin typeface="Arial"/>
                <a:ea typeface="Arial"/>
                <a:cs typeface="Arial"/>
              </a:rPr>
              <a:t>Case técnico Stage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E0A266E-0E78-4093-B5BE-2AD4FC18A8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14975"/>
            <a:ext cx="8572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0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80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Gabriel  /  Outubro de 2026</a:t>
            </a:r>
          </a:p>
        </p:txBody>
      </p:sp>
    </p:spTree>
    <p:extLst>
      <p:ext uri="{BB962C8B-B14F-4D97-AF65-F5344CB8AC3E}">
        <p14:creationId xmlns:p14="http://schemas.microsoft.com/office/powerpoint/2010/main" val="585200983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15F1DC9-9E2F-4EB8-8C73-D60A38BA0C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95300"/>
            <a:ext cx="10858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300" b="1">
                <a:solidFill>
                  <a:srgbClr val="172C2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3300" b="1">
                <a:solidFill>
                  <a:srgbClr val="172C2A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172C2A"/>
                </a:solidFill>
                <a:latin typeface="Arial"/>
                <a:ea typeface="Arial"/>
                <a:cs typeface="Arial"/>
              </a:rPr>
              <a:t>O fluxo do grupo ao acerto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354C527-E9C7-4E72-8DE6-C9A694FE52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238875"/>
            <a:ext cx="571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0">
                <a:solidFill>
                  <a:srgbClr val="50605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350" b="0">
                <a:solidFill>
                  <a:srgbClr val="50605F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0605F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pic>
        <p:nvPic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9B07A06-F7BE-4224-B69E-DF0674A7CDB9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9a0b11ac71a4409"/>
          <a:stretch xmlns:a="http://schemas.openxmlformats.org/drawingml/2006/main"/>
        </p:blipFill>
        <p:spPr>
          <a:xfrm xmlns:a="http://schemas.openxmlformats.org/drawingml/2006/main">
            <a:off x="1003444" y="1447800"/>
            <a:ext cx="6718011" cy="4667250"/>
          </a:xfrm>
          <a:prstGeom xmlns:a="http://schemas.openxmlformats.org/drawingml/2006/main" prst="rect">
            <a:avLst/>
          </a:prstGeom>
        </p:spPr>
      </p:pic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ED473C8-222F-4CC3-A4E1-53A4199F79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4400" y="1724025"/>
            <a:ext cx="295275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00" b="1">
                <a:solidFill>
                  <a:srgbClr val="13796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100" b="1">
                <a:solidFill>
                  <a:srgbClr val="137963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137963"/>
                </a:solidFill>
                <a:latin typeface="Arial"/>
                <a:ea typeface="Arial"/>
                <a:cs typeface="Arial"/>
              </a:rPr>
              <a:t>Grupos e participantes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C166FE4-59AD-4189-A62E-A67C10C6E8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4400" y="2676525"/>
            <a:ext cx="29527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025" b="0">
                <a:solidFill>
                  <a:srgbClr val="172C2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025" b="0">
                <a:solidFill>
                  <a:srgbClr val="172C2A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172C2A"/>
                </a:solidFill>
                <a:latin typeface="Arial"/>
                <a:ea typeface="Arial"/>
                <a:cs typeface="Arial"/>
              </a:rPr>
              <a:t>Despesas em BRL, USD ou EUR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761A941-2817-4773-B476-CB2BE1BCE7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4400" y="3829050"/>
            <a:ext cx="29527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025" b="0">
                <a:solidFill>
                  <a:srgbClr val="172C2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025" b="0">
                <a:solidFill>
                  <a:srgbClr val="172C2A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172C2A"/>
                </a:solidFill>
                <a:latin typeface="Arial"/>
                <a:ea typeface="Arial"/>
                <a:cs typeface="Arial"/>
              </a:rPr>
              <a:t>Extrato individual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0BF2775-FEDC-4FAD-8E29-4B2D47763C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4400" y="4800600"/>
            <a:ext cx="2952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00" b="1">
                <a:solidFill>
                  <a:srgbClr val="13796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100" b="1">
                <a:solidFill>
                  <a:srgbClr val="137963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137963"/>
                </a:solidFill>
                <a:latin typeface="Arial"/>
                <a:ea typeface="Arial"/>
                <a:cs typeface="Arial"/>
              </a:rPr>
              <a:t>Plano de acerto</a:t>
            </a:r>
          </a:p>
        </p:txBody>
      </p:sp>
    </p:spTree>
    <p:extLst>
      <p:ext uri="{BB962C8B-B14F-4D97-AF65-F5344CB8AC3E}">
        <p14:creationId xmlns:p14="http://schemas.microsoft.com/office/powerpoint/2010/main" val="2034576844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19AF1B6-ECD1-489D-BBF7-8B57EFBC43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95300"/>
            <a:ext cx="10858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300" b="1">
                <a:solidFill>
                  <a:srgbClr val="172C2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3300" b="1">
                <a:solidFill>
                  <a:srgbClr val="172C2A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172C2A"/>
                </a:solidFill>
                <a:latin typeface="Arial"/>
                <a:ea typeface="Arial"/>
                <a:cs typeface="Arial"/>
              </a:rPr>
              <a:t>Arquitetura do MVP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3FDC0DC-0A45-4799-868F-F4CA9243E7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238875"/>
            <a:ext cx="571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0">
                <a:solidFill>
                  <a:srgbClr val="50605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350" b="0">
                <a:solidFill>
                  <a:srgbClr val="50605F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0605F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F1975F5-2B61-4DF1-A2F6-68D4F27038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28775"/>
            <a:ext cx="3333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75" b="1">
                <a:solidFill>
                  <a:srgbClr val="13796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175" b="1">
                <a:solidFill>
                  <a:srgbClr val="137963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137963"/>
                </a:solidFill>
                <a:latin typeface="Arial"/>
                <a:ea typeface="Arial"/>
                <a:cs typeface="Arial"/>
              </a:rPr>
              <a:t>Interface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6558CDA-6AF3-4C4F-AC72-FA62515671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1628775"/>
            <a:ext cx="695325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025" b="0">
                <a:solidFill>
                  <a:srgbClr val="172C2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025" b="0">
                <a:solidFill>
                  <a:srgbClr val="172C2A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172C2A"/>
                </a:solidFill>
                <a:latin typeface="Arial"/>
                <a:ea typeface="Arial"/>
                <a:cs typeface="Arial"/>
              </a:rPr>
              <a:t>Next.js 16, React e TypeScript</a:t>
            </a:r>
          </a:p>
          <a:p xmlns:a="http://schemas.openxmlformats.org/drawingml/2006/main">
            <a:pPr>
              <a:defRPr sz="2025" b="0">
                <a:solidFill>
                  <a:srgbClr val="172C2A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172C2A"/>
                </a:solidFill>
                <a:latin typeface="Arial"/>
                <a:ea typeface="Arial"/>
                <a:cs typeface="Arial"/>
              </a:rPr>
              <a:t>Grupos, despesas, saldos e extratos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DA5500C-41CE-4B8D-BBAF-4CB4B8D2BB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705100"/>
            <a:ext cx="3333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75" b="1">
                <a:solidFill>
                  <a:srgbClr val="13796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175" b="1">
                <a:solidFill>
                  <a:srgbClr val="137963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137963"/>
                </a:solidFill>
                <a:latin typeface="Arial"/>
                <a:ea typeface="Arial"/>
                <a:cs typeface="Arial"/>
              </a:rPr>
              <a:t>API e validação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0585AAC-B761-4A1C-8F53-F2A045ECA0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2705100"/>
            <a:ext cx="695325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025" b="0">
                <a:solidFill>
                  <a:srgbClr val="172C2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025" b="0">
                <a:solidFill>
                  <a:srgbClr val="172C2A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172C2A"/>
                </a:solidFill>
                <a:latin typeface="Arial"/>
                <a:ea typeface="Arial"/>
                <a:cs typeface="Arial"/>
              </a:rPr>
              <a:t>Route Handlers e Zod</a:t>
            </a:r>
          </a:p>
          <a:p xmlns:a="http://schemas.openxmlformats.org/drawingml/2006/main">
            <a:pPr>
              <a:defRPr sz="2025" b="0">
                <a:solidFill>
                  <a:srgbClr val="172C2A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172C2A"/>
                </a:solidFill>
                <a:latin typeface="Arial"/>
                <a:ea typeface="Arial"/>
                <a:cs typeface="Arial"/>
              </a:rPr>
              <a:t>Validação de dados e membros no servidor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C2402E7-A342-4165-8D31-0314EE4F84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781425"/>
            <a:ext cx="3333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75" b="1">
                <a:solidFill>
                  <a:srgbClr val="13796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175" b="1">
                <a:solidFill>
                  <a:srgbClr val="137963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137963"/>
                </a:solidFill>
                <a:latin typeface="Arial"/>
                <a:ea typeface="Arial"/>
                <a:cs typeface="Arial"/>
              </a:rPr>
              <a:t>Regras financeiras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6FBC015-07FB-43ED-A742-765B6424EF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3781425"/>
            <a:ext cx="695325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025" b="0">
                <a:solidFill>
                  <a:srgbClr val="172C2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025" b="0">
                <a:solidFill>
                  <a:srgbClr val="172C2A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172C2A"/>
                </a:solidFill>
                <a:latin typeface="Arial"/>
                <a:ea typeface="Arial"/>
                <a:cs typeface="Arial"/>
              </a:rPr>
              <a:t>money.ts, fx.ts e settlement.ts</a:t>
            </a:r>
          </a:p>
          <a:p xmlns:a="http://schemas.openxmlformats.org/drawingml/2006/main">
            <a:pPr>
              <a:defRPr sz="2025" b="0">
                <a:solidFill>
                  <a:srgbClr val="172C2A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172C2A"/>
                </a:solidFill>
                <a:latin typeface="Arial"/>
                <a:ea typeface="Arial"/>
                <a:cs typeface="Arial"/>
              </a:rPr>
              <a:t>Lógica independente dos componentes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CBD90C3-E23F-4E03-9F71-C993743265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857750"/>
            <a:ext cx="3333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75" b="1">
                <a:solidFill>
                  <a:srgbClr val="13796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175" b="1">
                <a:solidFill>
                  <a:srgbClr val="137963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137963"/>
                </a:solidFill>
                <a:latin typeface="Arial"/>
                <a:ea typeface="Arial"/>
                <a:cs typeface="Arial"/>
              </a:rPr>
              <a:t>Persistência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8DF49EC-F0BB-4A4A-82E1-BBA6687789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4857750"/>
            <a:ext cx="695325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025" b="0">
                <a:solidFill>
                  <a:srgbClr val="172C2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025" b="0">
                <a:solidFill>
                  <a:srgbClr val="172C2A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172C2A"/>
                </a:solidFill>
                <a:latin typeface="Arial"/>
                <a:ea typeface="Arial"/>
                <a:cs typeface="Arial"/>
              </a:rPr>
              <a:t>PostgreSQL externo ou PGlite local</a:t>
            </a:r>
          </a:p>
          <a:p xmlns:a="http://schemas.openxmlformats.org/drawingml/2006/main">
            <a:pPr>
              <a:defRPr sz="2025" b="0">
                <a:solidFill>
                  <a:srgbClr val="172C2A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172C2A"/>
                </a:solidFill>
                <a:latin typeface="Arial"/>
                <a:ea typeface="Arial"/>
                <a:cs typeface="Arial"/>
              </a:rPr>
              <a:t>Migrações SQL e escrita transacional</a:t>
            </a:r>
          </a:p>
        </p:txBody>
      </p:sp>
    </p:spTree>
    <p:extLst>
      <p:ext uri="{BB962C8B-B14F-4D97-AF65-F5344CB8AC3E}">
        <p14:creationId xmlns:p14="http://schemas.microsoft.com/office/powerpoint/2010/main" val="1340920359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12C7445-168C-4BE6-B5FA-A282B76EE7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95300"/>
            <a:ext cx="10858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300" b="1">
                <a:solidFill>
                  <a:srgbClr val="172C2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3300" b="1">
                <a:solidFill>
                  <a:srgbClr val="172C2A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172C2A"/>
                </a:solidFill>
                <a:latin typeface="Arial"/>
                <a:ea typeface="Arial"/>
                <a:cs typeface="Arial"/>
              </a:rPr>
              <a:t>Precisão dos valores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588990A-DC2A-438A-84AC-58C14D65F8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238875"/>
            <a:ext cx="571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0">
                <a:solidFill>
                  <a:srgbClr val="50605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350" b="0">
                <a:solidFill>
                  <a:srgbClr val="50605F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0605F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644F3E7-BB94-4830-A573-3B6CF4E860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76400"/>
            <a:ext cx="5715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750" b="1">
                <a:solidFill>
                  <a:srgbClr val="13796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3750" b="1">
                <a:solidFill>
                  <a:srgbClr val="137963"/>
                </a:solidFill>
                <a:latin typeface="Arial"/>
                <a:ea typeface="Arial"/>
                <a:cs typeface="Arial"/>
              </a:defRPr>
            </a:pPr>
            <a:r>
              <a:rPr sz="3750" b="1">
                <a:solidFill>
                  <a:srgbClr val="137963"/>
                </a:solidFill>
                <a:latin typeface="Arial"/>
                <a:ea typeface="Arial"/>
                <a:cs typeface="Arial"/>
              </a:rPr>
              <a:t>R$ 10,00 / 3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CF9B12E-0E7A-4D2B-A935-893E239D0B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514600"/>
            <a:ext cx="106680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150" b="0">
                <a:solidFill>
                  <a:srgbClr val="172C2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3150" b="0">
                <a:solidFill>
                  <a:srgbClr val="172C2A"/>
                </a:solidFill>
                <a:latin typeface="Arial"/>
                <a:ea typeface="Arial"/>
                <a:cs typeface="Arial"/>
              </a:defRPr>
            </a:pPr>
            <a:r>
              <a:rPr sz="3150" b="0">
                <a:solidFill>
                  <a:srgbClr val="172C2A"/>
                </a:solidFill>
                <a:latin typeface="Arial"/>
                <a:ea typeface="Arial"/>
                <a:cs typeface="Arial"/>
              </a:rPr>
              <a:t>R$ 3,33  +  R$ 3,33  +  R$ 3,34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591533E-F5D7-4DE4-BE1B-BFEFA43607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333750"/>
            <a:ext cx="10477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00" b="0">
                <a:solidFill>
                  <a:srgbClr val="50605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100" b="0">
                <a:solidFill>
                  <a:srgbClr val="50605F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50605F"/>
                </a:solidFill>
                <a:latin typeface="Arial"/>
                <a:ea typeface="Arial"/>
                <a:cs typeface="Arial"/>
              </a:rPr>
              <a:t>Maiores restos preservam cada centavo do total.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9AEDD06-C0C1-458D-9C98-1D1F5E4D42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457700"/>
            <a:ext cx="10477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300" b="1">
                <a:solidFill>
                  <a:srgbClr val="13796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3300" b="1">
                <a:solidFill>
                  <a:srgbClr val="137963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137963"/>
                </a:solidFill>
                <a:latin typeface="Arial"/>
                <a:ea typeface="Arial"/>
                <a:cs typeface="Arial"/>
              </a:rPr>
              <a:t>USD 10,01 × 5,25 = R$ 52,55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5E10B71-8FE7-4496-BAE0-16DDD576F2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362575"/>
            <a:ext cx="10668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025" b="0">
                <a:solidFill>
                  <a:srgbClr val="172C2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025" b="0">
                <a:solidFill>
                  <a:srgbClr val="172C2A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172C2A"/>
                </a:solidFill>
                <a:latin typeface="Arial"/>
                <a:ea typeface="Arial"/>
                <a:cs typeface="Arial"/>
              </a:rPr>
              <a:t>Conversão antes do rateio. Cotação manual salva por despesa.</a:t>
            </a:r>
          </a:p>
        </p:txBody>
      </p:sp>
    </p:spTree>
    <p:extLst>
      <p:ext uri="{BB962C8B-B14F-4D97-AF65-F5344CB8AC3E}">
        <p14:creationId xmlns:p14="http://schemas.microsoft.com/office/powerpoint/2010/main" val="326413387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2143F0B-C110-48D1-9BA1-F5E2794077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95300"/>
            <a:ext cx="10858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300" b="1">
                <a:solidFill>
                  <a:srgbClr val="172C2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3300" b="1">
                <a:solidFill>
                  <a:srgbClr val="172C2A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172C2A"/>
                </a:solidFill>
                <a:latin typeface="Arial"/>
                <a:ea typeface="Arial"/>
                <a:cs typeface="Arial"/>
              </a:rPr>
              <a:t>Acerto com mínimo verificado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61CCFDD-E1E8-467B-B65A-CD2E12CF26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238875"/>
            <a:ext cx="571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0">
                <a:solidFill>
                  <a:srgbClr val="50605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350" b="0">
                <a:solidFill>
                  <a:srgbClr val="50605F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0605F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3D3700B-53D1-46D3-9125-E27F135C22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66875"/>
            <a:ext cx="10668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600" b="1">
                <a:solidFill>
                  <a:srgbClr val="13796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3600" b="1">
                <a:solidFill>
                  <a:srgbClr val="137963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137963"/>
                </a:solidFill>
                <a:latin typeface="Arial"/>
                <a:ea typeface="Arial"/>
                <a:cs typeface="Arial"/>
              </a:rPr>
              <a:t>Grupos de até 20 participantes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DAE074B-D4F1-4F74-B8F7-11873479D3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86025"/>
            <a:ext cx="10477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400" b="0">
                <a:solidFill>
                  <a:srgbClr val="172C2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400" b="0">
                <a:solidFill>
                  <a:srgbClr val="172C2A"/>
                </a:solidFill>
                <a:latin typeface="Arial"/>
                <a:ea typeface="Arial"/>
                <a:cs typeface="Arial"/>
              </a:defRPr>
            </a:pPr>
            <a:r>
              <a:rPr sz="2400" b="0">
                <a:solidFill>
                  <a:srgbClr val="172C2A"/>
                </a:solidFill>
                <a:latin typeface="Arial"/>
                <a:ea typeface="Arial"/>
                <a:cs typeface="Arial"/>
              </a:rPr>
              <a:t>Busca exata por subconjuntos de soma zero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C3842C4-5080-4ADB-8104-6E5C5BE7D4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724275"/>
            <a:ext cx="10668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625" b="1">
                <a:solidFill>
                  <a:srgbClr val="172C2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625" b="1">
                <a:solidFill>
                  <a:srgbClr val="172C2A"/>
                </a:solidFill>
                <a:latin typeface="Arial"/>
                <a:ea typeface="Arial"/>
                <a:cs typeface="Arial"/>
              </a:defRPr>
            </a:pPr>
            <a:r>
              <a:rPr sz="2625" b="1">
                <a:solidFill>
                  <a:srgbClr val="172C2A"/>
                </a:solidFill>
                <a:latin typeface="Arial"/>
                <a:ea typeface="Arial"/>
                <a:cs typeface="Arial"/>
              </a:rPr>
              <a:t>Grupos legados maiores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855C895-2451-4928-9168-2A25154FED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429125"/>
            <a:ext cx="104775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400" b="0">
                <a:solidFill>
                  <a:srgbClr val="172C2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400" b="0">
                <a:solidFill>
                  <a:srgbClr val="172C2A"/>
                </a:solidFill>
                <a:latin typeface="Arial"/>
                <a:ea typeface="Arial"/>
                <a:cs typeface="Arial"/>
              </a:defRPr>
            </a:pPr>
            <a:r>
              <a:rPr sz="2400" b="0">
                <a:solidFill>
                  <a:srgbClr val="172C2A"/>
                </a:solidFill>
                <a:latin typeface="Arial"/>
                <a:ea typeface="Arial"/>
                <a:cs typeface="Arial"/>
              </a:rPr>
              <a:t>Plano simplificado quando o mínimo não está comprovado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BB3ADC8-1B8D-401D-B111-C890B09267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72125"/>
            <a:ext cx="10668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025" b="0">
                <a:solidFill>
                  <a:srgbClr val="50605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025" b="0">
                <a:solidFill>
                  <a:srgbClr val="50605F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50605F"/>
                </a:solidFill>
                <a:latin typeface="Arial"/>
                <a:ea typeface="Arial"/>
                <a:cs typeface="Arial"/>
              </a:rPr>
              <a:t>Exemplo do grupo: 3 transferências, total de R$ 62,94</a:t>
            </a:r>
          </a:p>
        </p:txBody>
      </p:sp>
    </p:spTree>
    <p:extLst>
      <p:ext uri="{BB962C8B-B14F-4D97-AF65-F5344CB8AC3E}">
        <p14:creationId xmlns:p14="http://schemas.microsoft.com/office/powerpoint/2010/main" val="1035485377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5B747A9-30C5-4CE4-846E-273434EC98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95300"/>
            <a:ext cx="10858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300" b="1">
                <a:solidFill>
                  <a:srgbClr val="172C2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3300" b="1">
                <a:solidFill>
                  <a:srgbClr val="172C2A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172C2A"/>
                </a:solidFill>
                <a:latin typeface="Arial"/>
                <a:ea typeface="Arial"/>
                <a:cs typeface="Arial"/>
              </a:rPr>
              <a:t>Testes e evidências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BCAF5EA-6C83-49E2-A381-5B319B9D1E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238875"/>
            <a:ext cx="571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0">
                <a:solidFill>
                  <a:srgbClr val="50605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350" b="0">
                <a:solidFill>
                  <a:srgbClr val="50605F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0605F"/>
                </a:solidFill>
                <a:latin typeface="Arial"/>
                <a:ea typeface="Arial"/>
                <a:cs typeface="Arial"/>
              </a:rPr>
              <a:t>06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768FC35-6E37-4368-920A-982E432898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71625"/>
            <a:ext cx="10668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5700" b="1">
                <a:solidFill>
                  <a:srgbClr val="13796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5700" b="1">
                <a:solidFill>
                  <a:srgbClr val="137963"/>
                </a:solidFill>
                <a:latin typeface="Arial"/>
                <a:ea typeface="Arial"/>
                <a:cs typeface="Arial"/>
              </a:defRPr>
            </a:pPr>
            <a:r>
              <a:rPr sz="5700" b="1">
                <a:solidFill>
                  <a:srgbClr val="137963"/>
                </a:solidFill>
                <a:latin typeface="Arial"/>
                <a:ea typeface="Arial"/>
                <a:cs typeface="Arial"/>
              </a:rPr>
              <a:t>23 testes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AC12099-923F-437D-BB49-FBD448C4D7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76525"/>
            <a:ext cx="10668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325" b="0">
                <a:solidFill>
                  <a:srgbClr val="172C2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325" b="0">
                <a:solidFill>
                  <a:srgbClr val="172C2A"/>
                </a:solidFill>
                <a:latin typeface="Arial"/>
                <a:ea typeface="Arial"/>
                <a:cs typeface="Arial"/>
              </a:defRPr>
            </a:pPr>
            <a:r>
              <a:rPr sz="2325" b="0">
                <a:solidFill>
                  <a:srgbClr val="172C2A"/>
                </a:solidFill>
                <a:latin typeface="Arial"/>
                <a:ea typeface="Arial"/>
                <a:cs typeface="Arial"/>
              </a:rPr>
              <a:t>22 no PGlite e todos os 23 no PostgreSQL da CI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6B18799-7229-4E7E-BD5F-02723391CA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524250"/>
            <a:ext cx="10668000" cy="1381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250" b="0">
                <a:solidFill>
                  <a:srgbClr val="172C2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250" b="0">
                <a:solidFill>
                  <a:srgbClr val="172C2A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C2A"/>
                </a:solidFill>
                <a:latin typeface="Arial"/>
                <a:ea typeface="Arial"/>
                <a:cs typeface="Arial"/>
              </a:rPr>
              <a:t>Centavos e percentuais inválidos</a:t>
            </a:r>
          </a:p>
          <a:p xmlns:a="http://schemas.openxmlformats.org/drawingml/2006/main">
            <a:pPr>
              <a:defRPr sz="2250" b="0">
                <a:solidFill>
                  <a:srgbClr val="172C2A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C2A"/>
                </a:solidFill>
                <a:latin typeface="Arial"/>
                <a:ea typeface="Arial"/>
                <a:cs typeface="Arial"/>
              </a:rPr>
              <a:t>Câmbio e persistência do histórico</a:t>
            </a:r>
          </a:p>
          <a:p xmlns:a="http://schemas.openxmlformats.org/drawingml/2006/main">
            <a:pPr>
              <a:defRPr sz="2250" b="0">
                <a:solidFill>
                  <a:srgbClr val="172C2A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C2A"/>
                </a:solidFill>
                <a:latin typeface="Arial"/>
                <a:ea typeface="Arial"/>
                <a:cs typeface="Arial"/>
              </a:rPr>
              <a:t>Acerto comparado a um oráculo exaustivo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6799DA2-3CA3-4FD9-A235-B864EAE900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400675"/>
            <a:ext cx="106680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250" b="1">
                <a:solidFill>
                  <a:srgbClr val="13796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250" b="1">
                <a:solidFill>
                  <a:srgbClr val="137963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137963"/>
                </a:solidFill>
                <a:latin typeface="Arial"/>
                <a:ea typeface="Arial"/>
                <a:cs typeface="Arial"/>
              </a:rPr>
              <a:t>CI aprovada: tipos, build e fluxo HTTP em produção</a:t>
            </a:r>
          </a:p>
        </p:txBody>
      </p:sp>
    </p:spTree>
    <p:extLst>
      <p:ext uri="{BB962C8B-B14F-4D97-AF65-F5344CB8AC3E}">
        <p14:creationId xmlns:p14="http://schemas.microsoft.com/office/powerpoint/2010/main" val="1339790273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8F1E5A6-9E86-4579-8418-3D2A16D67F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95300"/>
            <a:ext cx="10858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300" b="1">
                <a:solidFill>
                  <a:srgbClr val="172C2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3300" b="1">
                <a:solidFill>
                  <a:srgbClr val="172C2A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172C2A"/>
                </a:solidFill>
                <a:latin typeface="Arial"/>
                <a:ea typeface="Arial"/>
                <a:cs typeface="Arial"/>
              </a:rPr>
              <a:t>Processo e rastreabilidade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C6C2347-F484-4B96-B1D4-15788EB78A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238875"/>
            <a:ext cx="571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0">
                <a:solidFill>
                  <a:srgbClr val="50605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350" b="0">
                <a:solidFill>
                  <a:srgbClr val="50605F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0605F"/>
                </a:solidFill>
                <a:latin typeface="Arial"/>
                <a:ea typeface="Arial"/>
                <a:cs typeface="Arial"/>
              </a:rPr>
              <a:t>07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F78749A-BB88-46CD-8054-020557E9FB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76400"/>
            <a:ext cx="10668000" cy="600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775" b="1">
                <a:solidFill>
                  <a:srgbClr val="13796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775" b="1">
                <a:solidFill>
                  <a:srgbClr val="137963"/>
                </a:solidFill>
                <a:latin typeface="Arial"/>
                <a:ea typeface="Arial"/>
                <a:cs typeface="Arial"/>
              </a:defRPr>
            </a:pPr>
            <a:r>
              <a:rPr sz="2775" b="1">
                <a:solidFill>
                  <a:srgbClr val="137963"/>
                </a:solidFill>
                <a:latin typeface="Arial"/>
                <a:ea typeface="Arial"/>
                <a:cs typeface="Arial"/>
              </a:rPr>
              <a:t>Issues vinculadas aos commits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4019193-BF7A-47E0-B6AA-BAAD7B5F36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76525"/>
            <a:ext cx="10763250" cy="1695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325" b="0">
                <a:solidFill>
                  <a:srgbClr val="172C2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325" b="0">
                <a:solidFill>
                  <a:srgbClr val="172C2A"/>
                </a:solidFill>
                <a:latin typeface="Arial"/>
                <a:ea typeface="Arial"/>
                <a:cs typeface="Arial"/>
              </a:defRPr>
            </a:pPr>
            <a:r>
              <a:rPr sz="2325" b="0">
                <a:solidFill>
                  <a:srgbClr val="172C2A"/>
                </a:solidFill>
                <a:latin typeface="Arial"/>
                <a:ea typeface="Arial"/>
                <a:cs typeface="Arial"/>
              </a:rPr>
              <a:t>README com arquitetura e execução</a:t>
            </a:r>
          </a:p>
          <a:p xmlns:a="http://schemas.openxmlformats.org/drawingml/2006/main">
            <a:pPr>
              <a:defRPr sz="2325" b="0">
                <a:solidFill>
                  <a:srgbClr val="172C2A"/>
                </a:solidFill>
                <a:latin typeface="Arial"/>
                <a:ea typeface="Arial"/>
                <a:cs typeface="Arial"/>
              </a:defRPr>
            </a:pPr>
            <a:r>
              <a:rPr sz="2325" b="0">
                <a:solidFill>
                  <a:srgbClr val="172C2A"/>
                </a:solidFill>
                <a:latin typeface="Arial"/>
                <a:ea typeface="Arial"/>
                <a:cs typeface="Arial"/>
              </a:rPr>
              <a:t>Roteiro de demonstração e evidências de validação</a:t>
            </a:r>
          </a:p>
          <a:p xmlns:a="http://schemas.openxmlformats.org/drawingml/2006/main">
            <a:pPr>
              <a:defRPr sz="2325" b="0">
                <a:solidFill>
                  <a:srgbClr val="172C2A"/>
                </a:solidFill>
                <a:latin typeface="Arial"/>
                <a:ea typeface="Arial"/>
                <a:cs typeface="Arial"/>
              </a:defRPr>
            </a:pPr>
            <a:r>
              <a:rPr sz="2325" b="0">
                <a:solidFill>
                  <a:srgbClr val="172C2A"/>
                </a:solidFill>
                <a:latin typeface="Arial"/>
                <a:ea typeface="Arial"/>
                <a:cs typeface="Arial"/>
              </a:rPr>
              <a:t>GitHub Actions com PostgreSQL em container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70CE8F9-1AA3-4BFE-A987-12F37DE5D5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819650"/>
            <a:ext cx="104775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400" b="1">
                <a:solidFill>
                  <a:srgbClr val="172C2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400" b="1">
                <a:solidFill>
                  <a:srgbClr val="172C2A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172C2A"/>
                </a:solidFill>
                <a:latin typeface="Arial"/>
                <a:ea typeface="Arial"/>
                <a:cs typeface="Arial"/>
              </a:rPr>
              <a:t>Quadro privado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4DB8E3D-76E1-4E93-9138-E8DBB5FA8D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476875"/>
            <a:ext cx="10668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025" b="0">
                <a:solidFill>
                  <a:srgbClr val="50605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025" b="0">
                <a:solidFill>
                  <a:srgbClr val="50605F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50605F"/>
                </a:solidFill>
                <a:latin typeface="Arial"/>
                <a:ea typeface="Arial"/>
                <a:cs typeface="Arial"/>
              </a:rPr>
              <a:t>Requisito de quadro público permanece pendente.</a:t>
            </a:r>
          </a:p>
        </p:txBody>
      </p:sp>
    </p:spTree>
    <p:extLst>
      <p:ext uri="{BB962C8B-B14F-4D97-AF65-F5344CB8AC3E}">
        <p14:creationId xmlns:p14="http://schemas.microsoft.com/office/powerpoint/2010/main" val="2004592649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E0ECA46-5EA6-432B-8C3A-CF01F5BE90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95300"/>
            <a:ext cx="10858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300" b="1">
                <a:solidFill>
                  <a:srgbClr val="172C2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3300" b="1">
                <a:solidFill>
                  <a:srgbClr val="172C2A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172C2A"/>
                </a:solidFill>
                <a:latin typeface="Arial"/>
                <a:ea typeface="Arial"/>
                <a:cs typeface="Arial"/>
              </a:rPr>
              <a:t>Limites e próxima versão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96C90EA-A9BB-4888-95ED-A49C9B4103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238875"/>
            <a:ext cx="571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0">
                <a:solidFill>
                  <a:srgbClr val="50605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350" b="0">
                <a:solidFill>
                  <a:srgbClr val="50605F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0605F"/>
                </a:solidFill>
                <a:latin typeface="Arial"/>
                <a:ea typeface="Arial"/>
                <a:cs typeface="Arial"/>
              </a:rPr>
              <a:t>08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893CAFC-10FD-4F41-8B80-4DA2767531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47825"/>
            <a:ext cx="46672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475" b="1">
                <a:solidFill>
                  <a:srgbClr val="13796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475" b="1">
                <a:solidFill>
                  <a:srgbClr val="137963"/>
                </a:solidFill>
                <a:latin typeface="Arial"/>
                <a:ea typeface="Arial"/>
                <a:cs typeface="Arial"/>
              </a:defRPr>
            </a:pPr>
            <a:r>
              <a:rPr sz="2475" b="1">
                <a:solidFill>
                  <a:srgbClr val="137963"/>
                </a:solidFill>
                <a:latin typeface="Arial"/>
                <a:ea typeface="Arial"/>
                <a:cs typeface="Arial"/>
              </a:rPr>
              <a:t>MVP atual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8025739-659B-4715-A6C3-30092F65CC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0"/>
            <a:ext cx="4857750" cy="1657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75" b="0">
                <a:solidFill>
                  <a:srgbClr val="172C2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175" b="0">
                <a:solidFill>
                  <a:srgbClr val="172C2A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172C2A"/>
                </a:solidFill>
                <a:latin typeface="Arial"/>
                <a:ea typeface="Arial"/>
                <a:cs typeface="Arial"/>
              </a:rPr>
              <a:t>Demonstração local</a:t>
            </a:r>
          </a:p>
          <a:p xmlns:a="http://schemas.openxmlformats.org/drawingml/2006/main">
            <a:pPr>
              <a:defRPr sz="2175" b="0">
                <a:solidFill>
                  <a:srgbClr val="172C2A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172C2A"/>
                </a:solidFill>
                <a:latin typeface="Arial"/>
                <a:ea typeface="Arial"/>
                <a:cs typeface="Arial"/>
              </a:rPr>
              <a:t>Cotação manual</a:t>
            </a:r>
          </a:p>
          <a:p xmlns:a="http://schemas.openxmlformats.org/drawingml/2006/main">
            <a:pPr>
              <a:defRPr sz="2175" b="0">
                <a:solidFill>
                  <a:srgbClr val="172C2A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172C2A"/>
                </a:solidFill>
                <a:latin typeface="Arial"/>
                <a:ea typeface="Arial"/>
                <a:cs typeface="Arial"/>
              </a:rPr>
              <a:t>Sem contas ou pagamentos reais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2F97A8D-225D-4DB9-826D-C9B9B6DDA1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1647825"/>
            <a:ext cx="48577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475" b="1">
                <a:solidFill>
                  <a:srgbClr val="13796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475" b="1">
                <a:solidFill>
                  <a:srgbClr val="137963"/>
                </a:solidFill>
                <a:latin typeface="Arial"/>
                <a:ea typeface="Arial"/>
                <a:cs typeface="Arial"/>
              </a:defRPr>
            </a:pPr>
            <a:r>
              <a:rPr sz="2475" b="1">
                <a:solidFill>
                  <a:srgbClr val="137963"/>
                </a:solidFill>
                <a:latin typeface="Arial"/>
                <a:ea typeface="Arial"/>
                <a:cs typeface="Arial"/>
              </a:rPr>
              <a:t>V2 proposta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B098C4D-E0BA-46F9-B0E7-95F2B9207B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2476500"/>
            <a:ext cx="5143500" cy="1657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75" b="0">
                <a:solidFill>
                  <a:srgbClr val="172C2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175" b="0">
                <a:solidFill>
                  <a:srgbClr val="172C2A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172C2A"/>
                </a:solidFill>
                <a:latin typeface="Arial"/>
                <a:ea typeface="Arial"/>
                <a:cs typeface="Arial"/>
              </a:rPr>
              <a:t>Autenticação e convites</a:t>
            </a:r>
          </a:p>
          <a:p xmlns:a="http://schemas.openxmlformats.org/drawingml/2006/main">
            <a:pPr>
              <a:defRPr sz="2175" b="0">
                <a:solidFill>
                  <a:srgbClr val="172C2A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172C2A"/>
                </a:solidFill>
                <a:latin typeface="Arial"/>
                <a:ea typeface="Arial"/>
                <a:cs typeface="Arial"/>
              </a:rPr>
              <a:t>Registro de quitações</a:t>
            </a:r>
          </a:p>
          <a:p xmlns:a="http://schemas.openxmlformats.org/drawingml/2006/main">
            <a:pPr>
              <a:defRPr sz="2175" b="0">
                <a:solidFill>
                  <a:srgbClr val="172C2A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172C2A"/>
                </a:solidFill>
                <a:latin typeface="Arial"/>
                <a:ea typeface="Arial"/>
                <a:cs typeface="Arial"/>
              </a:rPr>
              <a:t>Edição com histórico de alterações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475E4EF-1D99-40F1-9B19-CD450F4EBA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933950"/>
            <a:ext cx="10763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025" b="0">
                <a:solidFill>
                  <a:srgbClr val="50605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025" b="0">
                <a:solidFill>
                  <a:srgbClr val="50605F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50605F"/>
                </a:solidFill>
                <a:latin typeface="Arial"/>
                <a:ea typeface="Arial"/>
                <a:cs typeface="Arial"/>
              </a:rPr>
              <a:t>Repositório e instruções de execução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C697D08-5BDB-49C0-9901-FD7DF26EA1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0"/>
            <a:ext cx="10858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75" b="0">
                <a:solidFill>
                  <a:srgbClr val="13796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175" b="0">
                <a:solidFill>
                  <a:srgbClr val="137963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137963"/>
                </a:solidFill>
                <a:latin typeface="Arial"/>
                <a:ea typeface="Arial"/>
                <a:cs typeface="Arial"/>
              </a:rPr>
              <a:t>github.com/reisgabriel767-max/split-and-go</a:t>
            </a:r>
          </a:p>
        </p:txBody>
      </p:sp>
    </p:spTree>
    <p:extLst>
      <p:ext uri="{BB962C8B-B14F-4D97-AF65-F5344CB8AC3E}">
        <p14:creationId xmlns:p14="http://schemas.microsoft.com/office/powerpoint/2010/main" val="1170741754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2026-10-14T22:56:57.1260000Z</dcterms:created>
  <dcterms:modified xsi:type="dcterms:W3CDTF">2026-10-14T22:56:57.1260000Z</dcterms:modified>
</coreProperties>
</file>