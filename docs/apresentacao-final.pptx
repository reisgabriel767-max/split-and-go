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5de7fdf6d4761" /><Relationship Type="http://schemas.openxmlformats.org/officeDocument/2006/relationships/extended-properties" Target="/docProps/app.xml" Id="Rdc1b1a2e82c74dbe" /><Relationship Type="http://schemas.openxmlformats.org/officeDocument/2006/relationships/officeDocument" Target="/ppt/presentation.xml" Id="Rda90af62c565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49159971f4eb5"/>
  </p:sldMasterIdLst>
  <p:notesMasterIdLst>
    <p:notesMasterId xmlns:r="http://schemas.openxmlformats.org/officeDocument/2006/relationships" r:id="R8050348b075149a6"/>
  </p:notesMasterIdLst>
  <p:sldIdLst>
    <p:sldId xmlns:r="http://schemas.openxmlformats.org/officeDocument/2006/relationships" id="256" r:id="R067ddd5c0b034219"/>
    <p:sldId xmlns:r="http://schemas.openxmlformats.org/officeDocument/2006/relationships" id="257" r:id="Re4613fd1468542a0"/>
    <p:sldId xmlns:r="http://schemas.openxmlformats.org/officeDocument/2006/relationships" id="258" r:id="R04494f274dc84ab1"/>
    <p:sldId xmlns:r="http://schemas.openxmlformats.org/officeDocument/2006/relationships" id="259" r:id="Re1dd9882bf7c440e"/>
    <p:sldId xmlns:r="http://schemas.openxmlformats.org/officeDocument/2006/relationships" id="260" r:id="R50108312fa83407a"/>
    <p:sldId xmlns:r="http://schemas.openxmlformats.org/officeDocument/2006/relationships" id="261" r:id="R9237729a6f93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ccab612394c33" /><Relationship Type="http://schemas.openxmlformats.org/officeDocument/2006/relationships/slideMaster" Target="/ppt/slideMasters/slideMaster1.xml" Id="R16749159971f4eb5" /><Relationship Type="http://schemas.openxmlformats.org/officeDocument/2006/relationships/notesMaster" Target="/ppt/notesMasters/notesMaster1.xml" Id="R8050348b075149a6" /><Relationship Type="http://schemas.openxmlformats.org/officeDocument/2006/relationships/presProps" Target="/ppt/presProps.xml" Id="R69b91aca9b034f1d" /><Relationship Type="http://schemas.openxmlformats.org/officeDocument/2006/relationships/tableStyles" Target="/ppt/tableStyles.xml" Id="R766cc6816f914f37" /><Relationship Type="http://schemas.openxmlformats.org/officeDocument/2006/relationships/slide" Target="/ppt/slides/slide1.xml" Id="R067ddd5c0b034219" /><Relationship Type="http://schemas.openxmlformats.org/officeDocument/2006/relationships/slide" Target="/ppt/slides/slide2.xml" Id="Re4613fd1468542a0" /><Relationship Type="http://schemas.openxmlformats.org/officeDocument/2006/relationships/slide" Target="/ppt/slides/slide3.xml" Id="R04494f274dc84ab1" /><Relationship Type="http://schemas.openxmlformats.org/officeDocument/2006/relationships/slide" Target="/ppt/slides/slide4.xml" Id="Re1dd9882bf7c440e" /><Relationship Type="http://schemas.openxmlformats.org/officeDocument/2006/relationships/slide" Target="/ppt/slides/slide5.xml" Id="R50108312fa83407a" /><Relationship Type="http://schemas.openxmlformats.org/officeDocument/2006/relationships/slide" Target="/ppt/slides/slide6.xml" Id="R9237729a6f93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91aa4bdeff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f36ad58a84a0b" /><Relationship Type="http://schemas.openxmlformats.org/officeDocument/2006/relationships/notesMaster" Target="/ppt/notesMasters/notesMaster1.xml" Id="Rb187faf1bdfd4a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509b0c66c14ac9" /><Relationship Type="http://schemas.openxmlformats.org/officeDocument/2006/relationships/notesMaster" Target="/ppt/notesMasters/notesMaster1.xml" Id="R7ea537b71771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ec2333a684788" /><Relationship Type="http://schemas.openxmlformats.org/officeDocument/2006/relationships/notesMaster" Target="/ppt/notesMasters/notesMaster1.xml" Id="R0c9461638a19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018bc2b174e56" /><Relationship Type="http://schemas.openxmlformats.org/officeDocument/2006/relationships/notesMaster" Target="/ppt/notesMasters/notesMaster1.xml" Id="R9559e0ba71c043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d2ebea0cd455d" /><Relationship Type="http://schemas.openxmlformats.org/officeDocument/2006/relationships/notesMaster" Target="/ppt/notesMasters/notesMaster1.xml" Id="Rd1ed83e7b76b42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dafd9e07d84dbb" /><Relationship Type="http://schemas.openxmlformats.org/officeDocument/2006/relationships/notesMaster" Target="/ppt/notesMasters/notesMaster1.xml" Id="R8ee6a6983b9a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tecnicas: README.md, docs/architecture.md, docs/validation.md e docs/backlog.md. Requisitos: STG_case_tech_v062026.pdf, paginas 2 a 5. Validacao local: 46 testes externos aprovados, 45 aprovados e 1 ignorado no modo embarcado. CI historica anterior: 38 testes. Quadro publico para leitura confirmado no GitHub em 16/10/2026. Checklists das issues ainda pendentes de revisao. Captura de produto historica, de 14/10/2026, anterior a modernizacao visual. A aplicacao nao executa pagamentos. Novos grupos limitados a vinte participantes.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bab892e2445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74a10fe5445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3c1f3bb6c41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a2667f27349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6376a558a41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502e98e27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7A4FF-B3B0-4392-BBDD-9F0F88C70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157550-1692-4C8F-AEDB-7A5E688F08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E27230-6E3A-40F4-9ABA-9FEFF5157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F0D20-88A8-4F03-B2C5-CB14698EF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A99264-2C1F-40E8-A47C-10512AE9E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7CF66C-56FA-4324-A57B-E48337CEF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4D475-FEBC-4294-AC6E-1242131184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CAA647-9CE8-451A-A8B9-E0813BE908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EDAB81-5405-4378-A293-43E8B778B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B1E5E5-C84D-4228-A5E3-B7254D103D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87e842fc540b9" /><Relationship Type="http://schemas.openxmlformats.org/officeDocument/2006/relationships/slideLayout" Target="/ppt/slideLayouts/slideLayout1.xml" Id="R925f8329347b4c25" /><Relationship Type="http://schemas.openxmlformats.org/officeDocument/2006/relationships/slideLayout" Target="/ppt/slideLayouts/slideLayout2.xml" Id="Rb65a5a4fe58c4127" /><Relationship Type="http://schemas.openxmlformats.org/officeDocument/2006/relationships/slideLayout" Target="/ppt/slideLayouts/slideLayout3.xml" Id="R3a8ec38aa9304a65" /><Relationship Type="http://schemas.openxmlformats.org/officeDocument/2006/relationships/slideLayout" Target="/ppt/slideLayouts/slideLayout4.xml" Id="R116e2a469b1643da" /><Relationship Type="http://schemas.openxmlformats.org/officeDocument/2006/relationships/slideLayout" Target="/ppt/slideLayouts/slideLayout5.xml" Id="R4ea6ce3b5ba342d1" /><Relationship Type="http://schemas.openxmlformats.org/officeDocument/2006/relationships/slideLayout" Target="/ppt/slideLayouts/slideLayout6.xml" Id="R5e0b84d7b7f3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f8329347b4c25"/>
    <p:sldLayoutId xmlns:r="http://schemas.openxmlformats.org/officeDocument/2006/relationships" id="2147483650" r:id="Rb65a5a4fe58c4127"/>
    <p:sldLayoutId xmlns:r="http://schemas.openxmlformats.org/officeDocument/2006/relationships" id="2147483651" r:id="R3a8ec38aa9304a65"/>
    <p:sldLayoutId xmlns:r="http://schemas.openxmlformats.org/officeDocument/2006/relationships" id="2147483652" r:id="R116e2a469b1643da"/>
    <p:sldLayoutId xmlns:r="http://schemas.openxmlformats.org/officeDocument/2006/relationships" id="2147483653" r:id="R4ea6ce3b5ba342d1"/>
    <p:sldLayoutId xmlns:r="http://schemas.openxmlformats.org/officeDocument/2006/relationships" id="2147483654" r:id="R5e0b84d7b7f3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e731c0c8a4217" /><Relationship Type="http://schemas.openxmlformats.org/officeDocument/2006/relationships/notesSlide" Target="/ppt/notesSlides/notesSlide1.xml" Id="Raf2397c5bf29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d25466f554ce5" /><Relationship Type="http://schemas.openxmlformats.org/officeDocument/2006/relationships/image" Target="/ppt/media/image.jpeg" Id="R86f7f82a9ecd4772" /><Relationship Type="http://schemas.openxmlformats.org/officeDocument/2006/relationships/notesSlide" Target="/ppt/notesSlides/notesSlide2.xml" Id="Rb20edd9d7c7440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a20c2359a4e97" /><Relationship Type="http://schemas.openxmlformats.org/officeDocument/2006/relationships/notesSlide" Target="/ppt/notesSlides/notesSlide3.xml" Id="R2017e9525de7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d389baddd4324" /><Relationship Type="http://schemas.openxmlformats.org/officeDocument/2006/relationships/notesSlide" Target="/ppt/notesSlides/notesSlide4.xml" Id="R817182333774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0f1729b6d479c" /><Relationship Type="http://schemas.openxmlformats.org/officeDocument/2006/relationships/hyperlink" Target="https://github.com/reisgabriel767-max/split-and-go" TargetMode="External" Id="R9644c72383dd41e2" /><Relationship Type="http://schemas.openxmlformats.org/officeDocument/2006/relationships/hyperlink" Target="https://github.com/reisgabriel767-max/split-and-go/actions/runs/38937774034" TargetMode="External" Id="Ra943bf4594ba44a6" /><Relationship Type="http://schemas.openxmlformats.org/officeDocument/2006/relationships/hyperlink" Target="https://github.com/reisgabriel767-max/split-and-go/issues/5" TargetMode="External" Id="R1e0e0664f9214bc2" /><Relationship Type="http://schemas.openxmlformats.org/officeDocument/2006/relationships/hyperlink" Target="https://github.com/users/reisgabriel767-max/projects/1" TargetMode="External" Id="R4aa0d7046988498d" /><Relationship Type="http://schemas.openxmlformats.org/officeDocument/2006/relationships/notesSlide" Target="/ppt/notesSlides/notesSlide5.xml" Id="Rae01e540991a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fe9e0d94e4360" /><Relationship Type="http://schemas.openxmlformats.org/officeDocument/2006/relationships/notesSlide" Target="/ppt/notesSlides/notesSlide6.xml" Id="R688b5acdee4344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">
            <a:extLst xmlns:a="http://schemas.openxmlformats.org/drawingml/2006/main">
              <a:ext uri="{FF2B5EF4-FFF2-40B4-BE49-F238E27FC236}">
                <a16:creationId xmlns:a16="http://schemas.microsoft.com/office/drawing/2014/main" id="{12335EE4-D996-4BF1-8DB5-EC6AF2D5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Split&amp;Go</a:t>
            </a:r>
          </a:p>
        </p:txBody>
      </p:sp>
      <p:sp>
        <p:nvSpPr>
          <p:cNvPr id="2" name="footer-1">
            <a:extLst xmlns:a="http://schemas.openxmlformats.org/drawingml/2006/main">
              <a:ext uri="{FF2B5EF4-FFF2-40B4-BE49-F238E27FC236}">
                <a16:creationId xmlns:a16="http://schemas.microsoft.com/office/drawing/2014/main" id="{32EB0E74-7F97-46E3-BF91-4C402B7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1 min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5BF4DEDF-176A-4E93-A2E7-FB65C14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B73278-D5D0-427F-82EC-26AC646A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Gestão Inteligente de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Despesas Compartilhadas</a:t>
            </a:r>
          </a:p>
        </p:txBody>
      </p:sp>
      <p:sp>
        <p:nvSpPr>
          <p:cNvPr id="5" name="problem">
            <a:extLst xmlns:a="http://schemas.openxmlformats.org/drawingml/2006/main">
              <a:ext uri="{FF2B5EF4-FFF2-40B4-BE49-F238E27FC236}">
                <a16:creationId xmlns:a16="http://schemas.microsoft.com/office/drawing/2014/main" id="{2A8B61E6-735B-44B0-9A67-7958A517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Pessoas diferentes pagam.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O grupo precisa saber quem deve a quem.</a:t>
            </a:r>
          </a:p>
        </p:txBody>
      </p:sp>
      <p:sp>
        <p:nvSpPr>
          <p:cNvPr id="6" name="audience">
            <a:extLst xmlns:a="http://schemas.openxmlformats.org/drawingml/2006/main">
              <a:ext uri="{FF2B5EF4-FFF2-40B4-BE49-F238E27FC236}">
                <a16:creationId xmlns:a16="http://schemas.microsoft.com/office/drawing/2014/main" id="{04E4D986-AEFB-4C67-8564-A6442F5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Viagens, repúblicas e eventos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72CF32B6-E320-4D91-A357-ACF8FF3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Grupos e despesas flexíveis, câmbio histórico,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extratos e plano de acerto com mínimo verificado.</a:t>
            </a:r>
          </a:p>
        </p:txBody>
      </p:sp>
      <p:sp>
        <p:nvSpPr>
          <p:cNvPr id="8" name="presenter">
            <a:extLst xmlns:a="http://schemas.openxmlformats.org/drawingml/2006/main">
              <a:ext uri="{FF2B5EF4-FFF2-40B4-BE49-F238E27FC236}">
                <a16:creationId xmlns:a16="http://schemas.microsoft.com/office/drawing/2014/main" id="{21CE11F8-02F0-400F-A13A-E262B65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Gabriel  / 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124373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5B890D87-18B9-4C8D-8DA5-7CA229D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Demonstração funcional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E9B619E5-D67E-4603-A294-6FC0448F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6 min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3D1403F3-17FB-4A19-B8FC-48692A0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5B427-F473-4D56-B195-546CE6069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7f82a9ecd4772"/>
          <a:stretch xmlns:a="http://schemas.openxmlformats.org/drawingml/2006/main"/>
        </p:blipFill>
        <p:spPr>
          <a:xfrm xmlns:a="http://schemas.openxmlformats.org/drawingml/2006/main">
            <a:off x="976601" y="1495425"/>
            <a:ext cx="5895398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65CE9241-25C7-42BF-B706-D3618A3C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Captura real de 14/10, anterior à modernização visual</a:t>
            </a:r>
          </a:p>
        </p:txBody>
      </p:sp>
      <p:sp>
        <p:nvSpPr>
          <p:cNvPr id="6" name="demo-group">
            <a:extLst xmlns:a="http://schemas.openxmlformats.org/drawingml/2006/main">
              <a:ext uri="{FF2B5EF4-FFF2-40B4-BE49-F238E27FC236}">
                <a16:creationId xmlns:a16="http://schemas.microsoft.com/office/drawing/2014/main" id="{8F054C69-FE73-490A-B104-2BE9842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811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Viagem a Paraty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(exemplo)</a:t>
            </a:r>
          </a:p>
        </p:txBody>
      </p:sp>
      <p:sp>
        <p:nvSpPr>
          <p:cNvPr id="7" name="demo-groups">
            <a:extLst xmlns:a="http://schemas.openxmlformats.org/drawingml/2006/main">
              <a:ext uri="{FF2B5EF4-FFF2-40B4-BE49-F238E27FC236}">
                <a16:creationId xmlns:a16="http://schemas.microsoft.com/office/drawing/2014/main" id="{85A97915-BAAC-4427-B2F0-E072FBF1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390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Grupos e integrantes</a:t>
            </a:r>
          </a:p>
        </p:txBody>
      </p:sp>
      <p:sp>
        <p:nvSpPr>
          <p:cNvPr id="8" name="demo-splits">
            <a:extLst xmlns:a="http://schemas.openxmlformats.org/drawingml/2006/main">
              <a:ext uri="{FF2B5EF4-FFF2-40B4-BE49-F238E27FC236}">
                <a16:creationId xmlns:a16="http://schemas.microsoft.com/office/drawing/2014/main" id="{AA344330-ABA7-4DF6-9ECF-FBE03A2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623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Igual, percentual e valor fixo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BRL, USD e EUR</a:t>
            </a:r>
          </a:p>
        </p:txBody>
      </p:sp>
      <p:sp>
        <p:nvSpPr>
          <p:cNvPr id="9" name="demo-balances">
            <a:extLst xmlns:a="http://schemas.openxmlformats.org/drawingml/2006/main">
              <a:ext uri="{FF2B5EF4-FFF2-40B4-BE49-F238E27FC236}">
                <a16:creationId xmlns:a16="http://schemas.microsoft.com/office/drawing/2014/main" id="{2B0A02B6-909A-4F62-B26F-1B1C0E1B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Saldos, extratos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e plano de acerto</a:t>
            </a:r>
          </a:p>
        </p:txBody>
      </p:sp>
      <p:sp>
        <p:nvSpPr>
          <p:cNvPr id="10" name="demo-existing">
            <a:extLst xmlns:a="http://schemas.openxmlformats.org/drawingml/2006/main">
              <a:ext uri="{FF2B5EF4-FFF2-40B4-BE49-F238E27FC236}">
                <a16:creationId xmlns:a16="http://schemas.microsoft.com/office/drawing/2014/main" id="{4BFF020B-B7EC-464C-9D59-C288DF09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863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4 integrantes  /  4 despesas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R$ 172,57 registrados</a:t>
            </a:r>
          </a:p>
        </p:txBody>
      </p:sp>
    </p:spTree>
    <p:extLst>
      <p:ext uri="{BB962C8B-B14F-4D97-AF65-F5344CB8AC3E}">
        <p14:creationId xmlns:p14="http://schemas.microsoft.com/office/powerpoint/2010/main" val="1732135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4ABEE-9940-4473-A219-1D912AF529A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32766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9CB1E-63AB-4D4E-A8A1-3BA97282F64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743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62498-BB91-463D-9379-07FA6148BD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86600" y="2743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45B53-BBED-4563-8B79-5B8200A83A6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38700" y="2743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31865-BCCC-406F-8B12-CF945767B50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0800" y="2743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A5E91F9B-7860-4C6E-8731-2542805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Arquitetura e infraestrutura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5B6889BC-FF0F-4B78-81E7-452D2CA6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3 min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AF8857F-B043-4772-81BE-FAEE78B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architecture-intro">
            <a:extLst xmlns:a="http://schemas.openxmlformats.org/drawingml/2006/main">
              <a:ext uri="{FF2B5EF4-FFF2-40B4-BE49-F238E27FC236}">
                <a16:creationId xmlns:a16="http://schemas.microsoft.com/office/drawing/2014/main" id="{0B382CDB-6F21-4661-B7B7-17615E55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Monólito modular com domínio e contratos de persistência independentes</a:t>
            </a:r>
          </a:p>
        </p:txBody>
      </p:sp>
      <p:sp>
        <p:nvSpPr>
          <p:cNvPr id="5" name="react">
            <a:extLst xmlns:a="http://schemas.openxmlformats.org/drawingml/2006/main">
              <a:ext uri="{FF2B5EF4-FFF2-40B4-BE49-F238E27FC236}">
                <a16:creationId xmlns:a16="http://schemas.microsoft.com/office/drawing/2014/main" id="{77DC0BD7-6AAB-41E8-A029-15D6735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React 19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useWorkspace</a:t>
            </a:r>
          </a:p>
        </p:txBody>
      </p:sp>
      <p:sp>
        <p:nvSpPr>
          <p:cNvPr id="6" name="http">
            <a:extLst xmlns:a="http://schemas.openxmlformats.org/drawingml/2006/main">
              <a:ext uri="{FF2B5EF4-FFF2-40B4-BE49-F238E27FC236}">
                <a16:creationId xmlns:a16="http://schemas.microsoft.com/office/drawing/2014/main" id="{7EB7E5D4-ABA8-4CF7-A4AE-55D99A27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Next.js 16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HTTP + Zod</a:t>
            </a:r>
          </a:p>
        </p:txBody>
      </p:sp>
      <p:sp>
        <p:nvSpPr>
          <p:cNvPr id="7" name="application">
            <a:extLst xmlns:a="http://schemas.openxmlformats.org/drawingml/2006/main">
              <a:ext uri="{FF2B5EF4-FFF2-40B4-BE49-F238E27FC236}">
                <a16:creationId xmlns:a16="http://schemas.microsoft.com/office/drawing/2014/main" id="{0FF78C96-422B-48F6-B135-EF0AE3C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Casos de uso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groups.ts</a:t>
            </a:r>
          </a:p>
        </p:txBody>
      </p:sp>
      <p:sp>
        <p:nvSpPr>
          <p:cNvPr id="8" name="repository">
            <a:extLst xmlns:a="http://schemas.openxmlformats.org/drawingml/2006/main">
              <a:ext uri="{FF2B5EF4-FFF2-40B4-BE49-F238E27FC236}">
                <a16:creationId xmlns:a16="http://schemas.microsoft.com/office/drawing/2014/main" id="{1017256C-4716-4FA9-A802-A193A540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Repositório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9" name="database">
            <a:extLst xmlns:a="http://schemas.openxmlformats.org/drawingml/2006/main">
              <a:ext uri="{FF2B5EF4-FFF2-40B4-BE49-F238E27FC236}">
                <a16:creationId xmlns:a16="http://schemas.microsoft.com/office/drawing/2014/main" id="{7A4511FD-6E76-4FC4-AAB2-960BC1A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pg / PGlite</a:t>
            </a:r>
          </a:p>
        </p:txBody>
      </p:sp>
      <p:sp>
        <p:nvSpPr>
          <p:cNvPr id="14" name="transport">
            <a:extLst xmlns:a="http://schemas.openxmlformats.org/drawingml/2006/main">
              <a:ext uri="{FF2B5EF4-FFF2-40B4-BE49-F238E27FC236}">
                <a16:creationId xmlns:a16="http://schemas.microsoft.com/office/drawing/2014/main" id="{BC6744D5-0FB3-4ED8-BCA0-DCDBC8C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fetch JSON</a:t>
            </a:r>
          </a:p>
        </p:txBody>
      </p:sp>
      <p:sp>
        <p:nvSpPr>
          <p:cNvPr id="15" name="validation">
            <a:extLst xmlns:a="http://schemas.openxmlformats.org/drawingml/2006/main">
              <a:ext uri="{FF2B5EF4-FFF2-40B4-BE49-F238E27FC236}">
                <a16:creationId xmlns:a16="http://schemas.microsoft.com/office/drawing/2014/main" id="{E45733C6-0A7D-4BFE-B8B0-7CD6298B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GET / POST</a:t>
            </a:r>
          </a:p>
        </p:txBody>
      </p:sp>
      <p:sp>
        <p:nvSpPr>
          <p:cNvPr id="16" name="port">
            <a:extLst xmlns:a="http://schemas.openxmlformats.org/drawingml/2006/main">
              <a:ext uri="{FF2B5EF4-FFF2-40B4-BE49-F238E27FC236}">
                <a16:creationId xmlns:a16="http://schemas.microsoft.com/office/drawing/2014/main" id="{E79156DB-01B5-4EFE-AF58-C90BF561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GroupRepository</a:t>
            </a:r>
          </a:p>
        </p:txBody>
      </p:sp>
      <p:sp>
        <p:nvSpPr>
          <p:cNvPr id="17" name="domain">
            <a:extLst xmlns:a="http://schemas.openxmlformats.org/drawingml/2006/main">
              <a:ext uri="{FF2B5EF4-FFF2-40B4-BE49-F238E27FC236}">
                <a16:creationId xmlns:a16="http://schemas.microsoft.com/office/drawing/2014/main" id="{6EB0BC29-8A0E-4399-9C12-916E7D29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81475"/>
            <a:ext cx="300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22B30"/>
                </a:solidFill>
                <a:latin typeface="Arial"/>
                <a:ea typeface="Arial"/>
                <a:cs typeface="Arial"/>
              </a:rPr>
              <a:t>Domínio</a:t>
            </a:r>
          </a:p>
          <a:p xmlns:a="http://schemas.openxmlformats.org/drawingml/2006/main">
            <a:pPr algn="ctr">
              <a:buNone/>
              <a:defRPr sz="18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22B30"/>
                </a:solidFill>
                <a:latin typeface="Arial"/>
                <a:ea typeface="Arial"/>
                <a:cs typeface="Arial"/>
              </a:rPr>
              <a:t>money, fx, settlement</a:t>
            </a:r>
          </a:p>
        </p:txBody>
      </p:sp>
      <p:sp>
        <p:nvSpPr>
          <p:cNvPr id="19" name="database-note">
            <a:extLst xmlns:a="http://schemas.openxmlformats.org/drawingml/2006/main">
              <a:ext uri="{FF2B5EF4-FFF2-40B4-BE49-F238E27FC236}">
                <a16:creationId xmlns:a16="http://schemas.microsoft.com/office/drawing/2014/main" id="{C994F10B-8CB5-4D7C-BBD3-31C7A82E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57650"/>
            <a:ext cx="3419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DATABASE_URL: externo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Desenvolvimento: PGlite</a:t>
            </a:r>
          </a:p>
        </p:txBody>
      </p:sp>
      <p:sp>
        <p:nvSpPr>
          <p:cNvPr id="20" name="clean-note">
            <a:extLst xmlns:a="http://schemas.openxmlformats.org/drawingml/2006/main">
              <a:ext uri="{FF2B5EF4-FFF2-40B4-BE49-F238E27FC236}">
                <a16:creationId xmlns:a16="http://schemas.microsoft.com/office/drawing/2014/main" id="{9D5F5C0F-BAE1-48FC-BDA5-1BF45E32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Princípios de Clean Architecture, sem adoção integral do padrão</a:t>
            </a:r>
          </a:p>
        </p:txBody>
      </p:sp>
      <p:sp>
        <p:nvSpPr>
          <p:cNvPr id="21" name="transaction-note">
            <a:extLst xmlns:a="http://schemas.openxmlformats.org/drawingml/2006/main">
              <a:ext uri="{FF2B5EF4-FFF2-40B4-BE49-F238E27FC236}">
                <a16:creationId xmlns:a16="http://schemas.microsoft.com/office/drawing/2014/main" id="{03789DF4-FE4C-4D7D-9CAE-A4927D9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Escrita atômica e FOR UPDATE. GET com REPEATABLE READ READ ONLY.</a:t>
            </a:r>
          </a:p>
        </p:txBody>
      </p:sp>
    </p:spTree>
    <p:extLst>
      <p:ext uri="{BB962C8B-B14F-4D97-AF65-F5344CB8AC3E}">
        <p14:creationId xmlns:p14="http://schemas.microsoft.com/office/powerpoint/2010/main" val="750293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823CC-A666-4C82-A5FD-DE315A96D72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133600" y="4495800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DD41B-3424-4C1D-A0EC-24A67103582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48250" y="25717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B39E1-F5B5-4E3E-B553-FE229FA455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33600" y="25717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7C61"/>
            </a:solidFill>
            <a:tailEnd type="triangle" w="sm" len="sm"/>
          </a:ln>
        </p:spPr>
      </p:cxnSp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B60F9E60-3862-4BFF-986D-5CBE50E5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Engenharia e algoritmo de liquidação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CE6E4F92-3894-4E52-B22D-C6B01FC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2 min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3EAF2EE-3A65-482D-BD86-ECDF1D5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before">
            <a:extLst xmlns:a="http://schemas.openxmlformats.org/drawingml/2006/main">
              <a:ext uri="{FF2B5EF4-FFF2-40B4-BE49-F238E27FC236}">
                <a16:creationId xmlns:a16="http://schemas.microsoft.com/office/drawing/2014/main" id="{A6328BC7-4CFF-4426-AC25-C6969D4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Obrigações do exemplo</a:t>
            </a:r>
          </a:p>
        </p:txBody>
      </p:sp>
      <p:sp>
        <p:nvSpPr>
          <p:cNvPr id="5" name="ana-before">
            <a:extLst xmlns:a="http://schemas.openxmlformats.org/drawingml/2006/main">
              <a:ext uri="{FF2B5EF4-FFF2-40B4-BE49-F238E27FC236}">
                <a16:creationId xmlns:a16="http://schemas.microsoft.com/office/drawing/2014/main" id="{8AE6E43A-CC4D-48CE-B0B9-EFCD57B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52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22B30"/>
                </a:solidFill>
                <a:latin typeface="Arial"/>
                <a:ea typeface="Arial"/>
                <a:cs typeface="Arial"/>
              </a:rPr>
              <a:t>Ana</a:t>
            </a:r>
          </a:p>
        </p:txBody>
      </p:sp>
      <p:sp>
        <p:nvSpPr>
          <p:cNvPr id="6" name="bruno-before">
            <a:extLst xmlns:a="http://schemas.openxmlformats.org/drawingml/2006/main">
              <a:ext uri="{FF2B5EF4-FFF2-40B4-BE49-F238E27FC236}">
                <a16:creationId xmlns:a16="http://schemas.microsoft.com/office/drawing/2014/main" id="{C5B3AE0C-E2AE-48EC-AE73-565220F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52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22B30"/>
                </a:solidFill>
                <a:latin typeface="Arial"/>
                <a:ea typeface="Arial"/>
                <a:cs typeface="Arial"/>
              </a:rPr>
              <a:t>Bruno</a:t>
            </a:r>
          </a:p>
        </p:txBody>
      </p:sp>
      <p:sp>
        <p:nvSpPr>
          <p:cNvPr id="7" name="carla-before">
            <a:extLst xmlns:a="http://schemas.openxmlformats.org/drawingml/2006/main">
              <a:ext uri="{FF2B5EF4-FFF2-40B4-BE49-F238E27FC236}">
                <a16:creationId xmlns:a16="http://schemas.microsoft.com/office/drawing/2014/main" id="{71D37A2C-8926-4CE4-8588-6D115B0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52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22B30"/>
                </a:solidFill>
                <a:latin typeface="Arial"/>
                <a:ea typeface="Arial"/>
                <a:cs typeface="Arial"/>
              </a:rPr>
              <a:t>Carla</a:t>
            </a:r>
          </a:p>
        </p:txBody>
      </p:sp>
      <p:sp>
        <p:nvSpPr>
          <p:cNvPr id="10" name="debt-ab">
            <a:extLst xmlns:a="http://schemas.openxmlformats.org/drawingml/2006/main">
              <a:ext uri="{FF2B5EF4-FFF2-40B4-BE49-F238E27FC236}">
                <a16:creationId xmlns:a16="http://schemas.microsoft.com/office/drawing/2014/main" id="{3621D1DD-F17B-4DF1-B0C1-1CA3A2FC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00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R$ 50</a:t>
            </a:r>
          </a:p>
        </p:txBody>
      </p:sp>
      <p:sp>
        <p:nvSpPr>
          <p:cNvPr id="11" name="debt-bc">
            <a:extLst xmlns:a="http://schemas.openxmlformats.org/drawingml/2006/main">
              <a:ext uri="{FF2B5EF4-FFF2-40B4-BE49-F238E27FC236}">
                <a16:creationId xmlns:a16="http://schemas.microsoft.com/office/drawing/2014/main" id="{42E92622-AD44-40B2-B436-9857CAE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R$ 50</a:t>
            </a:r>
          </a:p>
        </p:txBody>
      </p:sp>
      <p:sp>
        <p:nvSpPr>
          <p:cNvPr id="12" name="after">
            <a:extLst xmlns:a="http://schemas.openxmlformats.org/drawingml/2006/main">
              <a:ext uri="{FF2B5EF4-FFF2-40B4-BE49-F238E27FC236}">
                <a16:creationId xmlns:a16="http://schemas.microsoft.com/office/drawing/2014/main" id="{4B8CDE12-C09C-4AC1-A9DA-BFDF28AF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735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Após compensar os saldos</a:t>
            </a:r>
          </a:p>
        </p:txBody>
      </p:sp>
      <p:sp>
        <p:nvSpPr>
          <p:cNvPr id="13" name="ana-after">
            <a:extLst xmlns:a="http://schemas.openxmlformats.org/drawingml/2006/main">
              <a:ext uri="{FF2B5EF4-FFF2-40B4-BE49-F238E27FC236}">
                <a16:creationId xmlns:a16="http://schemas.microsoft.com/office/drawing/2014/main" id="{BEF69574-F52A-4632-89DC-82FB793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Ana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-R$ 50</a:t>
            </a:r>
          </a:p>
        </p:txBody>
      </p:sp>
      <p:sp>
        <p:nvSpPr>
          <p:cNvPr id="14" name="carla-after">
            <a:extLst xmlns:a="http://schemas.openxmlformats.org/drawingml/2006/main">
              <a:ext uri="{FF2B5EF4-FFF2-40B4-BE49-F238E27FC236}">
                <a16:creationId xmlns:a16="http://schemas.microsoft.com/office/drawing/2014/main" id="{B63FDC8D-C414-4F73-ACE0-2534B024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Carla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22B30"/>
                </a:solidFill>
                <a:latin typeface="Arial"/>
                <a:ea typeface="Arial"/>
                <a:cs typeface="Arial"/>
              </a:rPr>
              <a:t>+R$ 50</a:t>
            </a:r>
          </a:p>
        </p:txBody>
      </p:sp>
      <p:sp>
        <p:nvSpPr>
          <p:cNvPr id="16" name="direct">
            <a:extLst xmlns:a="http://schemas.openxmlformats.org/drawingml/2006/main">
              <a:ext uri="{FF2B5EF4-FFF2-40B4-BE49-F238E27FC236}">
                <a16:creationId xmlns:a16="http://schemas.microsoft.com/office/drawing/2014/main" id="{5376EB06-14A5-4B76-B0F3-C699F4A3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81450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1 transferência de R$ 50</a:t>
            </a:r>
          </a:p>
        </p:txBody>
      </p:sp>
      <p:sp>
        <p:nvSpPr>
          <p:cNvPr id="17" name="bruno-zero">
            <a:extLst xmlns:a="http://schemas.openxmlformats.org/drawingml/2006/main">
              <a:ext uri="{FF2B5EF4-FFF2-40B4-BE49-F238E27FC236}">
                <a16:creationId xmlns:a16="http://schemas.microsoft.com/office/drawing/2014/main" id="{94FB42A4-B283-41B6-A438-66721F76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Bruno: saldo zero</a:t>
            </a:r>
          </a:p>
        </p:txBody>
      </p:sp>
      <p:sp>
        <p:nvSpPr>
          <p:cNvPr id="18" name="guarantee">
            <a:extLst xmlns:a="http://schemas.openxmlformats.org/drawingml/2006/main">
              <a:ext uri="{FF2B5EF4-FFF2-40B4-BE49-F238E27FC236}">
                <a16:creationId xmlns:a16="http://schemas.microsoft.com/office/drawing/2014/main" id="{852BB1D2-21E5-42F0-8A08-18D17D40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525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Garantia de mínimo</a:t>
            </a:r>
          </a:p>
        </p:txBody>
      </p:sp>
      <p:sp>
        <p:nvSpPr>
          <p:cNvPr id="19" name="algorithm">
            <a:extLst xmlns:a="http://schemas.openxmlformats.org/drawingml/2006/main">
              <a:ext uri="{FF2B5EF4-FFF2-40B4-BE49-F238E27FC236}">
                <a16:creationId xmlns:a16="http://schemas.microsoft.com/office/drawing/2014/main" id="{D944CCED-6C9F-46BD-BE03-E0EC03A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124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Guloso testa o limite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inferior de transferências.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DP até 20 saldos ativos.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Tempo O(n × 2ⁿ).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Memória O(2ⁿ).</a:t>
            </a:r>
          </a:p>
        </p:txBody>
      </p:sp>
      <p:sp>
        <p:nvSpPr>
          <p:cNvPr id="20" name="large-groups">
            <a:extLst xmlns:a="http://schemas.openxmlformats.org/drawingml/2006/main">
              <a:ext uri="{FF2B5EF4-FFF2-40B4-BE49-F238E27FC236}">
                <a16:creationId xmlns:a16="http://schemas.microsoft.com/office/drawing/2014/main" id="{5D33CE76-8588-4798-9B9A-5D7B751B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490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449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A449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4925"/>
                </a:solidFill>
                <a:latin typeface="Arial"/>
                <a:ea typeface="Arial"/>
                <a:cs typeface="Arial"/>
              </a:rPr>
              <a:t>Legados maiores podem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A449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4925"/>
                </a:solidFill>
                <a:latin typeface="Arial"/>
                <a:ea typeface="Arial"/>
                <a:cs typeface="Arial"/>
              </a:rPr>
              <a:t>receber plano simplificado.</a:t>
            </a:r>
          </a:p>
        </p:txBody>
      </p:sp>
      <p:sp>
        <p:nvSpPr>
          <p:cNvPr id="21" name="precision">
            <a:extLst xmlns:a="http://schemas.openxmlformats.org/drawingml/2006/main">
              <a:ext uri="{FF2B5EF4-FFF2-40B4-BE49-F238E27FC236}">
                <a16:creationId xmlns:a16="http://schemas.microsoft.com/office/drawing/2014/main" id="{D8378FE5-5DDB-4E54-AEC8-0B29C97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Centavos inteiros, maiores restos e conversão decimal half-up antes do rateio</a:t>
            </a:r>
          </a:p>
        </p:txBody>
      </p:sp>
    </p:spTree>
    <p:extLst>
      <p:ext uri="{BB962C8B-B14F-4D97-AF65-F5344CB8AC3E}">
        <p14:creationId xmlns:p14="http://schemas.microsoft.com/office/powerpoint/2010/main" val="1080130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BDFAB4E8-257B-4EC7-8154-1A3633D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Gestão, testes e versionamento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A26D3958-A40A-440C-916F-6CBB332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2 min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472F8F3-E3A8-4104-AABB-9A787B0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st-count">
            <a:extLst xmlns:a="http://schemas.openxmlformats.org/drawingml/2006/main">
              <a:ext uri="{FF2B5EF4-FFF2-40B4-BE49-F238E27FC236}">
                <a16:creationId xmlns:a16="http://schemas.microsoft.com/office/drawing/2014/main" id="{19D5D04B-65BC-4D78-B079-9CB0B01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600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46 testes</a:t>
            </a:r>
          </a:p>
        </p:txBody>
      </p:sp>
      <p:sp>
        <p:nvSpPr>
          <p:cNvPr id="5" name="test-split">
            <a:extLst xmlns:a="http://schemas.openxmlformats.org/drawingml/2006/main">
              <a:ext uri="{FF2B5EF4-FFF2-40B4-BE49-F238E27FC236}">
                <a16:creationId xmlns:a16="http://schemas.microsoft.com/office/drawing/2014/main" id="{BF12B3B1-8CAF-4AAB-86E8-761CA97D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PGlite: 45 passam, 1 ignorado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PostgreSQL: 46 passam</a:t>
            </a:r>
          </a:p>
        </p:txBody>
      </p:sp>
      <p:sp>
        <p:nvSpPr>
          <p:cNvPr id="6" name="test-types">
            <a:extLst xmlns:a="http://schemas.openxmlformats.org/drawingml/2006/main">
              <a:ext uri="{FF2B5EF4-FFF2-40B4-BE49-F238E27FC236}">
                <a16:creationId xmlns:a16="http://schemas.microsoft.com/office/drawing/2014/main" id="{01F6AA76-5B2B-4F7E-91CB-DFB8E45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Domínio, API e exclusão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Rollback, migrações e concorrência</a:t>
            </a:r>
          </a:p>
        </p:txBody>
      </p:sp>
      <p:sp>
        <p:nvSpPr>
          <p:cNvPr id="7" name="test-limits">
            <a:extLst xmlns:a="http://schemas.openxmlformats.org/drawingml/2006/main">
              <a:ext uri="{FF2B5EF4-FFF2-40B4-BE49-F238E27FC236}">
                <a16:creationId xmlns:a16="http://schemas.microsoft.com/office/drawing/2014/main" id="{0374CAA1-F87E-4166-9D24-3A63BB1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Testes locais incluem exclusão.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CI publicada: versão anterior (38).</a:t>
            </a:r>
          </a:p>
        </p:txBody>
      </p:sp>
      <p:sp>
        <p:nvSpPr>
          <p:cNvPr id="8" name="management">
            <a:extLst xmlns:a="http://schemas.openxmlformats.org/drawingml/2006/main">
              <a:ext uri="{FF2B5EF4-FFF2-40B4-BE49-F238E27FC236}">
                <a16:creationId xmlns:a16="http://schemas.microsoft.com/office/drawing/2014/main" id="{DF605262-B8BE-4A28-9D48-613D2F72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548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Gestão rastreável</a:t>
            </a:r>
          </a:p>
        </p:txBody>
      </p:sp>
      <p:sp>
        <p:nvSpPr>
          <p:cNvPr id="9" name="kanban-0">
            <a:extLst xmlns:a="http://schemas.openxmlformats.org/drawingml/2006/main">
              <a:ext uri="{FF2B5EF4-FFF2-40B4-BE49-F238E27FC236}">
                <a16:creationId xmlns:a16="http://schemas.microsoft.com/office/drawing/2014/main" id="{599302F7-AC6A-4EDD-A264-24A8E84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10" name="kanban-1">
            <a:extLst xmlns:a="http://schemas.openxmlformats.org/drawingml/2006/main">
              <a:ext uri="{FF2B5EF4-FFF2-40B4-BE49-F238E27FC236}">
                <a16:creationId xmlns:a16="http://schemas.microsoft.com/office/drawing/2014/main" id="{D95AB47D-80B6-4A1A-A41E-680C4C5D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6222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In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11" name="kanban-2">
            <a:extLst xmlns:a="http://schemas.openxmlformats.org/drawingml/2006/main">
              <a:ext uri="{FF2B5EF4-FFF2-40B4-BE49-F238E27FC236}">
                <a16:creationId xmlns:a16="http://schemas.microsoft.com/office/drawing/2014/main" id="{8B2D45A0-23D8-431A-A1C8-BAD94FF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In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kanban-3">
            <a:extLst xmlns:a="http://schemas.openxmlformats.org/drawingml/2006/main">
              <a:ext uri="{FF2B5EF4-FFF2-40B4-BE49-F238E27FC236}">
                <a16:creationId xmlns:a16="http://schemas.microsoft.com/office/drawing/2014/main" id="{DBE48E7D-70C0-4F88-AF78-49214E8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6222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13" name="kanban-4">
            <a:extLst xmlns:a="http://schemas.openxmlformats.org/drawingml/2006/main">
              <a:ext uri="{FF2B5EF4-FFF2-40B4-BE49-F238E27FC236}">
                <a16:creationId xmlns:a16="http://schemas.microsoft.com/office/drawing/2014/main" id="{C248399F-B51B-4D96-9FA9-204AE8E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6222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CE5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22B30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14" name="issues">
            <a:extLst xmlns:a="http://schemas.openxmlformats.org/drawingml/2006/main">
              <a:ext uri="{FF2B5EF4-FFF2-40B4-BE49-F238E27FC236}">
                <a16:creationId xmlns:a16="http://schemas.microsoft.com/office/drawing/2014/main" id="{CF7F4DCD-6C25-44BB-A80E-B280185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8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6 issues fechadas e 2 abertas</a:t>
            </a:r>
          </a:p>
        </p:txBody>
      </p:sp>
      <p:sp>
        <p:nvSpPr>
          <p:cNvPr id="15" name="commits">
            <a:extLst xmlns:a="http://schemas.openxmlformats.org/drawingml/2006/main">
              <a:ext uri="{FF2B5EF4-FFF2-40B4-BE49-F238E27FC236}">
                <a16:creationId xmlns:a16="http://schemas.microsoft.com/office/drawing/2014/main" id="{19216F5B-8B93-4284-840E-211B7EF3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48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Commits feat, fix, refactor e docs</a:t>
            </a:r>
          </a:p>
        </p:txBody>
      </p:sp>
      <p:sp>
        <p:nvSpPr>
          <p:cNvPr id="16" name="pending-board">
            <a:extLst xmlns:a="http://schemas.openxmlformats.org/drawingml/2006/main">
              <a:ext uri="{FF2B5EF4-FFF2-40B4-BE49-F238E27FC236}">
                <a16:creationId xmlns:a16="http://schemas.microsoft.com/office/drawing/2014/main" id="{1C889004-E9ED-469E-A719-A7168232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548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449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449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4925"/>
                </a:solidFill>
                <a:latin typeface="Arial"/>
                <a:ea typeface="Arial"/>
                <a:cs typeface="Arial"/>
              </a:rPr>
              <a:t>Quadro público para leitura.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A449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4925"/>
                </a:solidFill>
                <a:latin typeface="Arial"/>
                <a:ea typeface="Arial"/>
                <a:cs typeface="Arial"/>
              </a:rPr>
              <a:t>Checklists pendentes de revisão.</a:t>
            </a:r>
          </a:p>
        </p:txBody>
      </p:sp>
      <p:sp>
        <p:nvSpPr>
          <p:cNvPr id="17" name="repo-link">
            <a:extLst xmlns:a="http://schemas.openxmlformats.org/drawingml/2006/main">
              <a:ext uri="{FF2B5EF4-FFF2-40B4-BE49-F238E27FC236}">
                <a16:creationId xmlns:a16="http://schemas.microsoft.com/office/drawing/2014/main" id="{918AF256-5211-47B7-BE04-F4C0221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C61"/>
                </a:solidFill>
                <a:latin typeface="Arial"/>
                <a:ea typeface="Arial"/>
                <a:cs typeface="Arial"/>
                <a:hlinkClick xmlns:r="http://schemas.openxmlformats.org/officeDocument/2006/relationships" r:id="R9644c72383dd41e2"/>
              </a:rPr>
              <a:t>Repositório e histórico</a:t>
            </a:r>
          </a:p>
        </p:txBody>
      </p:sp>
      <p:sp>
        <p:nvSpPr>
          <p:cNvPr id="18" name="ci-link">
            <a:extLst xmlns:a="http://schemas.openxmlformats.org/drawingml/2006/main">
              <a:ext uri="{FF2B5EF4-FFF2-40B4-BE49-F238E27FC236}">
                <a16:creationId xmlns:a16="http://schemas.microsoft.com/office/drawing/2014/main" id="{5580F81C-7E30-4959-997E-DE9C8527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C61"/>
                </a:solidFill>
                <a:latin typeface="Arial"/>
                <a:ea typeface="Arial"/>
                <a:cs typeface="Arial"/>
                <a:hlinkClick xmlns:r="http://schemas.openxmlformats.org/officeDocument/2006/relationships" r:id="Ra943bf4594ba44a6"/>
              </a:rPr>
              <a:t>CI publicada: 38 testes (anterior)</a:t>
            </a:r>
          </a:p>
        </p:txBody>
      </p:sp>
      <p:sp>
        <p:nvSpPr>
          <p:cNvPr id="19" name="issue-link">
            <a:extLst xmlns:a="http://schemas.openxmlformats.org/drawingml/2006/main">
              <a:ext uri="{FF2B5EF4-FFF2-40B4-BE49-F238E27FC236}">
                <a16:creationId xmlns:a16="http://schemas.microsoft.com/office/drawing/2014/main" id="{EE64A19F-983C-444C-8179-6A39B35A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C61"/>
                </a:solidFill>
                <a:latin typeface="Arial"/>
                <a:ea typeface="Arial"/>
                <a:cs typeface="Arial"/>
                <a:hlinkClick xmlns:r="http://schemas.openxmlformats.org/officeDocument/2006/relationships" r:id="R1e0e0664f9214bc2"/>
              </a:rPr>
              <a:t>Issue 5: saldos e minimização</a:t>
            </a:r>
          </a:p>
        </p:txBody>
      </p:sp>
      <p:sp>
        <p:nvSpPr>
          <p:cNvPr id="20" name="board-link">
            <a:extLst xmlns:a="http://schemas.openxmlformats.org/drawingml/2006/main">
              <a:ext uri="{FF2B5EF4-FFF2-40B4-BE49-F238E27FC236}">
                <a16:creationId xmlns:a16="http://schemas.microsoft.com/office/drawing/2014/main" id="{8A02E101-60EF-42DF-B0D4-36804F1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4360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C61"/>
                </a:solidFill>
                <a:latin typeface="Arial"/>
                <a:ea typeface="Arial"/>
                <a:cs typeface="Arial"/>
                <a:hlinkClick xmlns:r="http://schemas.openxmlformats.org/officeDocument/2006/relationships" r:id="R4aa0d7046988498d"/>
              </a:rPr>
              <a:t>Quadro de gestão (público)</a:t>
            </a:r>
          </a:p>
        </p:txBody>
      </p:sp>
      <p:sp>
        <p:nvSpPr>
          <p:cNvPr id="22" name="management-explanation">
            <a:extLst xmlns:a="http://schemas.openxmlformats.org/drawingml/2006/main">
              <a:ext uri="{FF2B5EF4-FFF2-40B4-BE49-F238E27FC236}">
                <a16:creationId xmlns:a16="http://schemas.microsoft.com/office/drawing/2014/main" id="{A9527AB4-410B-433A-8E4F-203DFB2A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6D75"/>
                </a:solidFill>
                <a:latin typeface="Arial"/>
                <a:ea typeface="Arial"/>
                <a:cs typeface="Arial"/>
              </a:rPr>
              <a:t>Tarefas em issues e quadro, cenários verificados por testes</a:t>
            </a:r>
          </a:p>
          <a:p xmlns:a="http://schemas.openxmlformats.org/drawingml/2006/main">
            <a:pPr>
              <a:buNone/>
              <a:defRPr sz="180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6D75"/>
                </a:solidFill>
                <a:latin typeface="Arial"/>
                <a:ea typeface="Arial"/>
                <a:cs typeface="Arial"/>
              </a:rPr>
              <a:t>e mudanças registradas em commits no Git.</a:t>
            </a:r>
          </a:p>
        </p:txBody>
      </p:sp>
    </p:spTree>
    <p:extLst>
      <p:ext uri="{BB962C8B-B14F-4D97-AF65-F5344CB8AC3E}">
        <p14:creationId xmlns:p14="http://schemas.microsoft.com/office/powerpoint/2010/main" val="171021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63DC3A05-B11E-4754-8B6D-5F79321E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Evolução e encerramento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3C3AA890-A614-44ED-9F07-137BB99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Split&amp;Go  /  Stage Consulting  /  1 min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7D4D8DEA-1F62-4506-8A2B-99BB98F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7C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hoices">
            <a:extLst xmlns:a="http://schemas.openxmlformats.org/drawingml/2006/main">
              <a:ext uri="{FF2B5EF4-FFF2-40B4-BE49-F238E27FC236}">
                <a16:creationId xmlns:a16="http://schemas.microsoft.com/office/drawing/2014/main" id="{FA57CF4C-5CD0-4172-98E3-CFDB60D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Escolhas do MVP</a:t>
            </a:r>
          </a:p>
        </p:txBody>
      </p:sp>
      <p:sp>
        <p:nvSpPr>
          <p:cNvPr id="5" name="decisions">
            <a:extLst xmlns:a="http://schemas.openxmlformats.org/drawingml/2006/main">
              <a:ext uri="{FF2B5EF4-FFF2-40B4-BE49-F238E27FC236}">
                <a16:creationId xmlns:a16="http://schemas.microsoft.com/office/drawing/2014/main" id="{5CEEEFC3-33CC-4AEC-941A-916D834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95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Monólito modular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Centavos e cotação histórica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Banco transacional e operação local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34A189CF-2314-40CA-A34E-46B27BA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Limites atuais</a:t>
            </a:r>
          </a:p>
        </p:txBody>
      </p:sp>
      <p:sp>
        <p:nvSpPr>
          <p:cNvPr id="7" name="limit-details">
            <a:extLst xmlns:a="http://schemas.openxmlformats.org/drawingml/2006/main">
              <a:ext uri="{FF2B5EF4-FFF2-40B4-BE49-F238E27FC236}">
                <a16:creationId xmlns:a16="http://schemas.microsoft.com/office/drawing/2014/main" id="{3BBB59F2-C8FC-4D24-9A8A-D1257AC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095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Sem autenticação ou pagamentos reais.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Câmbio manual, sem sincronização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30"/>
                </a:solidFill>
                <a:latin typeface="Arial"/>
                <a:ea typeface="Arial"/>
                <a:cs typeface="Arial"/>
              </a:rPr>
              <a:t>automática entre navegadores.</a:t>
            </a:r>
          </a:p>
        </p:txBody>
      </p:sp>
      <p:sp>
        <p:nvSpPr>
          <p:cNvPr id="8" name="future">
            <a:extLst xmlns:a="http://schemas.openxmlformats.org/drawingml/2006/main">
              <a:ext uri="{FF2B5EF4-FFF2-40B4-BE49-F238E27FC236}">
                <a16:creationId xmlns:a16="http://schemas.microsoft.com/office/drawing/2014/main" id="{8A6CF69C-A110-4CF2-AD1F-97D73A4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V2 proposta no README</a:t>
            </a:r>
          </a:p>
        </p:txBody>
      </p:sp>
      <p:sp>
        <p:nvSpPr>
          <p:cNvPr id="9" name="v2-auth">
            <a:extLst xmlns:a="http://schemas.openxmlformats.org/drawingml/2006/main">
              <a:ext uri="{FF2B5EF4-FFF2-40B4-BE49-F238E27FC236}">
                <a16:creationId xmlns:a16="http://schemas.microsoft.com/office/drawing/2014/main" id="{35E073C2-B07D-4548-B754-87C54C8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510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Autenticação e convites</a:t>
            </a:r>
          </a:p>
        </p:txBody>
      </p:sp>
      <p:sp>
        <p:nvSpPr>
          <p:cNvPr id="10" name="v2-auth-detail">
            <a:extLst xmlns:a="http://schemas.openxmlformats.org/drawingml/2006/main">
              <a:ext uri="{FF2B5EF4-FFF2-40B4-BE49-F238E27FC236}">
                <a16:creationId xmlns:a16="http://schemas.microsoft.com/office/drawing/2014/main" id="{29A1AEC1-EF24-43CB-9477-325EB494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Colaboração com acesso controlado</a:t>
            </a:r>
          </a:p>
        </p:txBody>
      </p:sp>
      <p:sp>
        <p:nvSpPr>
          <p:cNvPr id="11" name="v2-fx">
            <a:extLst xmlns:a="http://schemas.openxmlformats.org/drawingml/2006/main">
              <a:ext uri="{FF2B5EF4-FFF2-40B4-BE49-F238E27FC236}">
                <a16:creationId xmlns:a16="http://schemas.microsoft.com/office/drawing/2014/main" id="{E45CD2C2-C887-4D26-B688-D218F92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510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Cotações com fonte e data</a:t>
            </a:r>
          </a:p>
        </p:txBody>
      </p:sp>
      <p:sp>
        <p:nvSpPr>
          <p:cNvPr id="12" name="v2-fx-detail">
            <a:extLst xmlns:a="http://schemas.openxmlformats.org/drawingml/2006/main">
              <a:ext uri="{FF2B5EF4-FFF2-40B4-BE49-F238E27FC236}">
                <a16:creationId xmlns:a16="http://schemas.microsoft.com/office/drawing/2014/main" id="{C1FB27ED-79FB-40B8-BE2C-D071DC96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Menos digitação e mais rastreabilidade</a:t>
            </a:r>
          </a:p>
        </p:txBody>
      </p:sp>
      <p:sp>
        <p:nvSpPr>
          <p:cNvPr id="13" name="v2-pay">
            <a:extLst xmlns:a="http://schemas.openxmlformats.org/drawingml/2006/main">
              <a:ext uri="{FF2B5EF4-FFF2-40B4-BE49-F238E27FC236}">
                <a16:creationId xmlns:a16="http://schemas.microsoft.com/office/drawing/2014/main" id="{8F32A6B9-01EF-4825-A2C9-41BEF38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510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22B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B30"/>
                </a:solidFill>
                <a:latin typeface="Arial"/>
                <a:ea typeface="Arial"/>
                <a:cs typeface="Arial"/>
              </a:rPr>
              <a:t>Registro de pagamentos e lembretes</a:t>
            </a:r>
          </a:p>
        </p:txBody>
      </p:sp>
      <p:sp>
        <p:nvSpPr>
          <p:cNvPr id="14" name="v2-pay-detail">
            <a:extLst xmlns:a="http://schemas.openxmlformats.org/drawingml/2006/main">
              <a:ext uri="{FF2B5EF4-FFF2-40B4-BE49-F238E27FC236}">
                <a16:creationId xmlns:a16="http://schemas.microsoft.com/office/drawing/2014/main" id="{85E784A8-0C3B-4858-BB1B-74C6CBB1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06D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D75"/>
                </a:solidFill>
                <a:latin typeface="Arial"/>
                <a:ea typeface="Arial"/>
                <a:cs typeface="Arial"/>
              </a:rPr>
              <a:t>Acompanhamento da quitação efetiva</a:t>
            </a:r>
          </a:p>
        </p:txBody>
      </p:sp>
      <p:sp>
        <p:nvSpPr>
          <p:cNvPr id="15" name="closing">
            <a:extLst xmlns:a="http://schemas.openxmlformats.org/drawingml/2006/main">
              <a:ext uri="{FF2B5EF4-FFF2-40B4-BE49-F238E27FC236}">
                <a16:creationId xmlns:a16="http://schemas.microsoft.com/office/drawing/2014/main" id="{4C4239F5-DFC7-4161-B51F-C25A588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07C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C61"/>
                </a:solidFill>
                <a:latin typeface="Arial"/>
                <a:ea typeface="Arial"/>
                <a:cs typeface="Arial"/>
              </a:rPr>
              <a:t>Requisitos centrais com consistência monetária e simplicidade operacional</a:t>
            </a:r>
          </a:p>
        </p:txBody>
      </p:sp>
    </p:spTree>
    <p:extLst>
      <p:ext uri="{BB962C8B-B14F-4D97-AF65-F5344CB8AC3E}">
        <p14:creationId xmlns:p14="http://schemas.microsoft.com/office/powerpoint/2010/main" val="620833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2026-10-16T18:42:38.6180000Z</dcterms:created>
  <dcterms:modified xsi:type="dcterms:W3CDTF">2026-10-16T18:42:38.6180000Z</dcterms:modified>
</coreProperties>
</file>